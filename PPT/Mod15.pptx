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47" r:id="rId7"/>
    <p:sldId id="448" r:id="rId8"/>
    <p:sldId id="459" r:id="rId9"/>
    <p:sldId id="460" r:id="rId10"/>
    <p:sldId id="401" r:id="rId11"/>
    <p:sldId id="405" r:id="rId12"/>
    <p:sldId id="474" r:id="rId13"/>
    <p:sldId id="475" r:id="rId14"/>
    <p:sldId id="477" r:id="rId15"/>
    <p:sldId id="476" r:id="rId16"/>
    <p:sldId id="478" r:id="rId17"/>
    <p:sldId id="479" r:id="rId18"/>
    <p:sldId id="480" r:id="rId19"/>
    <p:sldId id="482" r:id="rId20"/>
    <p:sldId id="481" r:id="rId21"/>
    <p:sldId id="484" r:id="rId22"/>
    <p:sldId id="461" r:id="rId23"/>
    <p:sldId id="462" r:id="rId24"/>
    <p:sldId id="483" r:id="rId25"/>
    <p:sldId id="486" r:id="rId26"/>
    <p:sldId id="485" r:id="rId27"/>
    <p:sldId id="463" r:id="rId28"/>
    <p:sldId id="487" r:id="rId29"/>
    <p:sldId id="488" r:id="rId30"/>
    <p:sldId id="489" r:id="rId31"/>
    <p:sldId id="491" r:id="rId32"/>
    <p:sldId id="492" r:id="rId33"/>
    <p:sldId id="494" r:id="rId34"/>
    <p:sldId id="493" r:id="rId35"/>
    <p:sldId id="490" r:id="rId36"/>
    <p:sldId id="495" r:id="rId37"/>
    <p:sldId id="496" r:id="rId38"/>
    <p:sldId id="497" r:id="rId39"/>
    <p:sldId id="464" r:id="rId40"/>
    <p:sldId id="465" r:id="rId41"/>
    <p:sldId id="498" r:id="rId42"/>
    <p:sldId id="466" r:id="rId43"/>
    <p:sldId id="467" r:id="rId44"/>
    <p:sldId id="468" r:id="rId45"/>
    <p:sldId id="499" r:id="rId46"/>
    <p:sldId id="500" r:id="rId47"/>
    <p:sldId id="501" r:id="rId48"/>
    <p:sldId id="502" r:id="rId49"/>
    <p:sldId id="503" r:id="rId50"/>
    <p:sldId id="469" r:id="rId51"/>
    <p:sldId id="470" r:id="rId52"/>
    <p:sldId id="471" r:id="rId53"/>
    <p:sldId id="472" r:id="rId54"/>
    <p:sldId id="473" r:id="rId55"/>
    <p:sldId id="50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5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2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7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00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2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75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80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9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16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397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34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5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29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998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122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850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205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332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054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99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4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0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813996" y="3137306"/>
            <a:ext cx="139012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54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Advanced Report Design Techniques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Design Canvas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Sections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 Report from Scratch</a:t>
            </a: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FF3399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546216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Groups, Sorting and Totals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104583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631527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Grouping Report Data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Using Wizard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Sub Reports</a:t>
            </a:r>
          </a:p>
        </p:txBody>
      </p:sp>
    </p:spTree>
    <p:extLst>
      <p:ext uri="{BB962C8B-B14F-4D97-AF65-F5344CB8AC3E}">
        <p14:creationId xmlns:p14="http://schemas.microsoft.com/office/powerpoint/2010/main" val="207845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990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Building Reports Using Wizard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660066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Build Your Project Part IV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4915805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Using Where and Having in Grouping </a:t>
            </a:r>
          </a:p>
        </p:txBody>
      </p:sp>
    </p:spTree>
    <p:extLst>
      <p:ext uri="{BB962C8B-B14F-4D97-AF65-F5344CB8AC3E}">
        <p14:creationId xmlns:p14="http://schemas.microsoft.com/office/powerpoint/2010/main" val="53090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Design Canvas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B0D9C-9E27-D5E6-677A-7E2EBA69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5" y="1663949"/>
            <a:ext cx="1081238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Sections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B5426-98C4-B3BB-36B1-4790A3B6A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79" y="2585015"/>
            <a:ext cx="11137559" cy="277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3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Report from Scratch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F0CC0-A589-D38A-6C6A-CACBA33AFB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8" y="1423781"/>
            <a:ext cx="2106065" cy="192096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C8A75E-1143-B2FF-FCEB-39A607F46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8419"/>
            <a:ext cx="5352448" cy="567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B1447CD-7F7D-1DE8-52C4-78366A31D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678" y="1426765"/>
            <a:ext cx="2936334" cy="430176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07F0F26-3D94-427C-1A28-6B643B9D65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65" y="1507341"/>
            <a:ext cx="3788199" cy="156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6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5" name="Picture 4" descr="A close-up of a screen&#10;&#10;Description automatically generated">
            <a:extLst>
              <a:ext uri="{FF2B5EF4-FFF2-40B4-BE49-F238E27FC236}">
                <a16:creationId xmlns:a16="http://schemas.microsoft.com/office/drawing/2014/main" id="{6551BB01-71E0-3CCD-FA6C-7F3A6D33C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88" y="1738162"/>
            <a:ext cx="5493769" cy="89916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27520F3-2046-0134-F1A7-684591CC1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349" y="3263165"/>
            <a:ext cx="3127903" cy="194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5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F3D07D8-8110-2C03-2CAF-34E4DD5EC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491" y="3289902"/>
            <a:ext cx="2358507" cy="291070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AC66CB7-9D92-67DA-3428-6F93B536F9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1" y="1276717"/>
            <a:ext cx="5616849" cy="121622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F4ED4A4-58A1-5C88-696F-93562E404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45" y="2822638"/>
            <a:ext cx="3062730" cy="18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7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id="{A3A015A0-ADA1-47C7-7D89-62C9A5463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72" y="1600967"/>
            <a:ext cx="6208809" cy="16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6A905-996F-164E-21AB-F57EF6177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59" y="1716188"/>
            <a:ext cx="8987805" cy="29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CAB25805-767C-79D4-8695-BFA9EA55F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40" y="1461303"/>
            <a:ext cx="7894955" cy="18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9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25AF2CC-C4B3-B6F4-172A-BAE1C4298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973" y="1823301"/>
            <a:ext cx="9054332" cy="18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7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3CB0B84-3F91-C337-B781-523510D4F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24" y="1848970"/>
            <a:ext cx="2518643" cy="1943384"/>
          </a:xfrm>
          <a:prstGeom prst="rect">
            <a:avLst/>
          </a:prstGeom>
        </p:spPr>
      </p:pic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3F42D9F-2EC8-385F-C9F5-EC3F5A4E9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5" y="2299719"/>
            <a:ext cx="5968799" cy="388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5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D475B0C-3EF5-E986-0272-3A276D6DD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78" y="1554143"/>
            <a:ext cx="2533645" cy="1498659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9DBBEEB-7925-3924-312F-2C1CB5205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167" y="706958"/>
            <a:ext cx="3390025" cy="3202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2938FA-F190-13EC-3EAD-F0E04BDF1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096" y="4723503"/>
            <a:ext cx="5043511" cy="8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E156870-DC65-9F56-44EB-76B43CBE96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4" y="2210937"/>
            <a:ext cx="9444015" cy="266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9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Groups, Sorting and Totals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105AC0-2E1B-A5D7-0226-8635F2217322}"/>
              </a:ext>
            </a:extLst>
          </p:cNvPr>
          <p:cNvGrpSpPr/>
          <p:nvPr/>
        </p:nvGrpSpPr>
        <p:grpSpPr>
          <a:xfrm>
            <a:off x="1013942" y="2172315"/>
            <a:ext cx="9313965" cy="4141857"/>
            <a:chOff x="0" y="0"/>
            <a:chExt cx="3992245" cy="1937823"/>
          </a:xfrm>
        </p:grpSpPr>
        <p:pic>
          <p:nvPicPr>
            <p:cNvPr id="5" name="Picture 4" descr="A close up of black text&#10;&#10;Description automatically generated">
              <a:extLst>
                <a:ext uri="{FF2B5EF4-FFF2-40B4-BE49-F238E27FC236}">
                  <a16:creationId xmlns:a16="http://schemas.microsoft.com/office/drawing/2014/main" id="{B672D426-1691-44B0-DEBE-B77E6D9E5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97" y="0"/>
              <a:ext cx="3569335" cy="978535"/>
            </a:xfrm>
            <a:prstGeom prst="rect">
              <a:avLst/>
            </a:prstGeom>
          </p:spPr>
        </p:pic>
        <p:pic>
          <p:nvPicPr>
            <p:cNvPr id="6" name="Picture 5" descr="A close up of text&#10;&#10;Description automatically generated">
              <a:extLst>
                <a:ext uri="{FF2B5EF4-FFF2-40B4-BE49-F238E27FC236}">
                  <a16:creationId xmlns:a16="http://schemas.microsoft.com/office/drawing/2014/main" id="{909344B4-DAB3-D968-516E-B27FC85AD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91673"/>
              <a:ext cx="3992245" cy="946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078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Report Grouping,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Sorting and Totals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02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AB13F0-5283-0DBF-2E44-365BDE44A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4" y="1446717"/>
            <a:ext cx="4963836" cy="120023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3EC78E4-4B9B-9E92-57CF-3F047B1BD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558" y="2878515"/>
            <a:ext cx="4391192" cy="27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B2B041-4073-59B4-CC49-0058FF63D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705643"/>
            <a:ext cx="4019720" cy="142256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5C93219-6E25-9C16-7916-B5AFEF8B8D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195" y="3520875"/>
            <a:ext cx="4632269" cy="163148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E6DB896-1F05-D73D-8088-477D95583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455" y="4336616"/>
            <a:ext cx="4139905" cy="185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8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19B4E-DBE4-8A01-6BB1-F6FBB6887C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65" y="874055"/>
            <a:ext cx="4925176" cy="510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8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14C: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Grouping Report Data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Wizard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31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177D03-7CAB-E275-0652-39F05A32C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29" y="1369414"/>
            <a:ext cx="3525899" cy="255340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C2F662E-21F9-FD49-8F0F-70F96F5D8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29" y="3282165"/>
            <a:ext cx="6286016" cy="25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8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6365D-460C-1B73-05A3-454B9983B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32" y="1570247"/>
            <a:ext cx="4113414" cy="325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E895F0-8CC6-B0A6-7AD0-13273C089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18" y="1498711"/>
            <a:ext cx="4203032" cy="332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7197D9-E81D-DDDB-FFCB-5B1EADB96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489" y="2512468"/>
            <a:ext cx="9106843" cy="158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EF04B71-22A9-8706-7BB4-7E5A9FA01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791" y="3125824"/>
            <a:ext cx="9326326" cy="97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4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B178CF1-46FB-11E4-D4E1-6449728E2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43" y="2324853"/>
            <a:ext cx="9584551" cy="158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9937E-6F04-A35C-E51F-99FD399EB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885" y="1768475"/>
            <a:ext cx="4638552" cy="366017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01C2416-18CE-D543-93A5-9E8EDB3F8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62" y="1768475"/>
            <a:ext cx="3157220" cy="39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ED4BF3-220C-02A5-D87A-FE56AE107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68" y="2670509"/>
            <a:ext cx="8761531" cy="9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6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0BFB6-CC6F-68C9-702E-89F07F318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64" y="3159387"/>
            <a:ext cx="8387509" cy="8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8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A6158-71ED-FBE2-050B-214F63DC7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995" y="1820265"/>
            <a:ext cx="7784602" cy="30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0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5C8B0-2573-3640-D24D-22D943F86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93" y="2223042"/>
            <a:ext cx="10453520" cy="13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ACB34-0765-7CFF-8B28-6A060AC68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28" y="1849998"/>
            <a:ext cx="3955930" cy="37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7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 Reports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68CC-AC32-E537-E301-2384C8895817}"/>
              </a:ext>
            </a:extLst>
          </p:cNvPr>
          <p:cNvSpPr txBox="1"/>
          <p:nvPr/>
        </p:nvSpPr>
        <p:spPr>
          <a:xfrm>
            <a:off x="959224" y="2776434"/>
            <a:ext cx="10623175" cy="2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 report (Child) is a report that is embedded in another report (Parent).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Most of the time there is linked field between the two reports.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field link is used to filter records between two reports</a:t>
            </a:r>
          </a:p>
        </p:txBody>
      </p:sp>
    </p:spTree>
    <p:extLst>
      <p:ext uri="{BB962C8B-B14F-4D97-AF65-F5344CB8AC3E}">
        <p14:creationId xmlns:p14="http://schemas.microsoft.com/office/powerpoint/2010/main" val="317796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14D: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Sub Reports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31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12AF71-D672-0585-0DAC-5026414903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74" y="1414712"/>
            <a:ext cx="3581684" cy="4020099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7093AB32-3D6A-F454-3829-F5CB44029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68984"/>
            <a:ext cx="4087528" cy="285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Wizard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68CC-AC32-E537-E301-2384C8895817}"/>
              </a:ext>
            </a:extLst>
          </p:cNvPr>
          <p:cNvSpPr txBox="1"/>
          <p:nvPr/>
        </p:nvSpPr>
        <p:spPr>
          <a:xfrm>
            <a:off x="941295" y="2166834"/>
            <a:ext cx="10623175" cy="95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Access has a rich report wizard that makes it easier to have a quick report.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You can use it to create reports and then customize the result.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00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Wizard Advantages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45AD47-C799-EA46-63A8-D5B164383916}"/>
              </a:ext>
            </a:extLst>
          </p:cNvPr>
          <p:cNvGrpSpPr/>
          <p:nvPr/>
        </p:nvGrpSpPr>
        <p:grpSpPr>
          <a:xfrm>
            <a:off x="1862753" y="1822348"/>
            <a:ext cx="7926705" cy="4787614"/>
            <a:chOff x="0" y="0"/>
            <a:chExt cx="3661410" cy="2305095"/>
          </a:xfrm>
        </p:grpSpPr>
        <p:pic>
          <p:nvPicPr>
            <p:cNvPr id="4" name="Picture 3" descr="A close-up of black text&#10;&#10;Description automatically generated">
              <a:extLst>
                <a:ext uri="{FF2B5EF4-FFF2-40B4-BE49-F238E27FC236}">
                  <a16:creationId xmlns:a16="http://schemas.microsoft.com/office/drawing/2014/main" id="{7A62C86D-5043-C5EE-526E-2A55202D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661410" cy="1158875"/>
            </a:xfrm>
            <a:prstGeom prst="rect">
              <a:avLst/>
            </a:prstGeom>
          </p:spPr>
        </p:pic>
        <p:pic>
          <p:nvPicPr>
            <p:cNvPr id="5" name="Picture 4" descr="A close up of text&#10;&#10;Description automatically generated">
              <a:extLst>
                <a:ext uri="{FF2B5EF4-FFF2-40B4-BE49-F238E27FC236}">
                  <a16:creationId xmlns:a16="http://schemas.microsoft.com/office/drawing/2014/main" id="{B0527D09-EABE-9CFF-309A-45CB7585C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31" y="1146220"/>
              <a:ext cx="3261995" cy="1158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521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14E: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Building Reports Using Wizard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8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C2614-5174-2AAC-959F-6071F9017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745" y="1613931"/>
            <a:ext cx="4072417" cy="275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88504-54AB-5026-9B37-5A40A7C38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30" y="1386624"/>
            <a:ext cx="4171384" cy="328809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4DB998A-8428-5325-741D-36B5B09A8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010" y="1540447"/>
            <a:ext cx="3967191" cy="31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9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EEE1583-0EA7-A07D-EFEC-AA0902A63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1" y="1657855"/>
            <a:ext cx="4278017" cy="3367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81B3FF-C34C-F0A3-A860-C959B5BFA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7855"/>
            <a:ext cx="4325148" cy="33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9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5143D61-716B-20A8-41C5-F269F7A16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53" y="1509151"/>
            <a:ext cx="4546489" cy="3630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A17A85-2982-DA09-40E6-67628E836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312" y="1431658"/>
            <a:ext cx="4481662" cy="357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3" name="Picture 2" descr="A yellow and grey line&#10;&#10;Description automatically generated">
            <a:extLst>
              <a:ext uri="{FF2B5EF4-FFF2-40B4-BE49-F238E27FC236}">
                <a16:creationId xmlns:a16="http://schemas.microsoft.com/office/drawing/2014/main" id="{AE65D2B3-64E1-49B5-48B3-8DD23DA41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32" y="3429000"/>
            <a:ext cx="8285435" cy="116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5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9425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IV</a:t>
            </a:r>
            <a:br>
              <a:rPr lang="ar-EG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Reports</a:t>
            </a:r>
          </a:p>
        </p:txBody>
      </p:sp>
    </p:spTree>
    <p:extLst>
      <p:ext uri="{BB962C8B-B14F-4D97-AF65-F5344CB8AC3E}">
        <p14:creationId xmlns:p14="http://schemas.microsoft.com/office/powerpoint/2010/main" val="72070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Create All Employees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1C2C2-938E-D245-9E10-85522FB74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135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Create An Employee Profile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C1D0FF-7164-D5D0-C548-1E1BC9D96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02" y="0"/>
            <a:ext cx="4860758" cy="683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roject&#10;&#10;Description automatically generated">
            <a:extLst>
              <a:ext uri="{FF2B5EF4-FFF2-40B4-BE49-F238E27FC236}">
                <a16:creationId xmlns:a16="http://schemas.microsoft.com/office/drawing/2014/main" id="{4FFF77BF-1E77-56FF-A489-9F5B7A8D1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36" y="2008346"/>
            <a:ext cx="2627463" cy="2152932"/>
          </a:xfrm>
          <a:prstGeom prst="rect">
            <a:avLst/>
          </a:prstGeom>
        </p:spPr>
      </p:pic>
      <p:pic>
        <p:nvPicPr>
          <p:cNvPr id="5" name="Picture 4" descr="A screenshot of a project&#10;&#10;Description automatically generated">
            <a:extLst>
              <a:ext uri="{FF2B5EF4-FFF2-40B4-BE49-F238E27FC236}">
                <a16:creationId xmlns:a16="http://schemas.microsoft.com/office/drawing/2014/main" id="{A95FC305-F07C-D477-6796-B59BE8A35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55" y="-6679"/>
            <a:ext cx="4799195" cy="6782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Create Project Employees Report</a:t>
            </a:r>
          </a:p>
        </p:txBody>
      </p:sp>
    </p:spTree>
    <p:extLst>
      <p:ext uri="{BB962C8B-B14F-4D97-AF65-F5344CB8AC3E}">
        <p14:creationId xmlns:p14="http://schemas.microsoft.com/office/powerpoint/2010/main" val="162984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1992-1F30-FCB1-7F38-F6FBDBB2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Create Report Buttons In Main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8FAA-013A-3ABB-3D8E-93F914B561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" r="1" b="1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67226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308</Words>
  <Application>Microsoft Office PowerPoint</Application>
  <PresentationFormat>Widescreen</PresentationFormat>
  <Paragraphs>90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 Design Canvas</vt:lpstr>
      <vt:lpstr>Report Sections</vt:lpstr>
      <vt:lpstr>Lab 14A:  Creating a Report from Scratch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 Groups, Sorting and Totals</vt:lpstr>
      <vt:lpstr>Lab 14B:  Report Grouping,  Sorting and Totals</vt:lpstr>
      <vt:lpstr>PowerPoint Presentation</vt:lpstr>
      <vt:lpstr>PowerPoint Presentation</vt:lpstr>
      <vt:lpstr>PowerPoint Presentation</vt:lpstr>
      <vt:lpstr>Lab 14C:  Grouping Report Data  Using Wizard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 Reports</vt:lpstr>
      <vt:lpstr>Lab 14D:  Sub Reports</vt:lpstr>
      <vt:lpstr>PowerPoint Presentation</vt:lpstr>
      <vt:lpstr>Report Wizard</vt:lpstr>
      <vt:lpstr>Report Wizard Advantages</vt:lpstr>
      <vt:lpstr>Lab 14E:  Building Reports Using Wizard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Your Project Part IV Create Reports</vt:lpstr>
      <vt:lpstr>Create All Employees Report</vt:lpstr>
      <vt:lpstr>Create An Employee Profile</vt:lpstr>
      <vt:lpstr>Create Project Employees Report</vt:lpstr>
      <vt:lpstr>Create Report Buttons In Main 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35</cp:revision>
  <dcterms:created xsi:type="dcterms:W3CDTF">2025-11-09T07:43:58Z</dcterms:created>
  <dcterms:modified xsi:type="dcterms:W3CDTF">2025-11-10T06:47:03Z</dcterms:modified>
</cp:coreProperties>
</file>