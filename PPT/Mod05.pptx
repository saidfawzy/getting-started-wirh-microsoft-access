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</p:sldMasterIdLst>
  <p:sldIdLst>
    <p:sldId id="256" r:id="rId4"/>
    <p:sldId id="257" r:id="rId5"/>
    <p:sldId id="399" r:id="rId6"/>
    <p:sldId id="401" r:id="rId7"/>
    <p:sldId id="420" r:id="rId8"/>
    <p:sldId id="421" r:id="rId9"/>
    <p:sldId id="422" r:id="rId10"/>
    <p:sldId id="400" r:id="rId11"/>
    <p:sldId id="423" r:id="rId12"/>
    <p:sldId id="424" r:id="rId13"/>
    <p:sldId id="402" r:id="rId14"/>
    <p:sldId id="406" r:id="rId15"/>
    <p:sldId id="407" r:id="rId16"/>
    <p:sldId id="408" r:id="rId17"/>
    <p:sldId id="425" r:id="rId18"/>
    <p:sldId id="409" r:id="rId19"/>
    <p:sldId id="410" r:id="rId20"/>
    <p:sldId id="426" r:id="rId21"/>
    <p:sldId id="427" r:id="rId22"/>
    <p:sldId id="428" r:id="rId23"/>
    <p:sldId id="411" r:id="rId24"/>
    <p:sldId id="429" r:id="rId25"/>
    <p:sldId id="430" r:id="rId26"/>
    <p:sldId id="431" r:id="rId27"/>
    <p:sldId id="432" r:id="rId28"/>
    <p:sldId id="46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F2031"/>
    <a:srgbClr val="881421"/>
    <a:srgbClr val="C94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D41F-4221-062B-B5C5-584E822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C21E4-2009-9AF5-91F1-BA167997A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ABA3F-E9CB-E3CE-2F4E-0F0E30D9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A52A1-655A-C8F6-B9CB-032E975BB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FD6CE-AFEC-BD7D-AD90-28CC5AD9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9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3828-28B6-84DD-922E-F6CFA6E7E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3566-F73A-DF70-E290-41AF27A25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0ED62-8AE8-6945-83A7-0C3B7E9B7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95E3-8AB4-0E9B-87B4-2E90CEFF5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1E585-87EC-0505-C2BB-EBA1F837E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98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96CA1-6D4C-56A5-B40D-5DC7E7C7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7A2F4-F2ED-B664-E08E-E854BC99F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7E171-797D-0688-FDD7-4B6408ED0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68247-6504-B4BC-EAC3-261A7314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E0AD-20CE-4B49-3D16-9B3ED77B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B27C4-7B5D-0803-FD11-E61A42D25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F4D1-1836-9541-A4EE-846522648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1D6B1F-C93B-2D6A-3C35-A10BF93F07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C9BA0-E7D3-3218-F424-08D70A9A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0F830-1437-7916-DD43-1EB9DA50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0235E-D86E-D11E-96DD-2376C36B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04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388-2051-EA46-7D55-8707E687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8787-3E76-6AFA-1C9C-8FB9E327D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0DA8-71D2-12B2-CEBB-1DBE84E7B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DCA60-347C-85A9-C679-71841ACAE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E2055-497E-678F-FB1C-59252526B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42F9D-62C5-09EA-AB4D-4A258C7A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46CA7-8138-828F-61E4-0ACE6B1A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AFC305-5A83-FB8D-B76B-731C9E64E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78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B21D-CF8F-02DC-229B-27AA5C55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B870DB-9C3B-3558-C18E-46DB5F122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F95F63-98AC-1F42-D113-53DFBFB9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3B67C6-4CFF-9699-B27B-26C4F92CD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39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7C337F-FD1D-8051-3CDB-58D454E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1B8C2-D602-8C17-2DC1-105C9AA6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8411BC-D9AD-689D-FEE1-D93C1872B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5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E126C-900F-B424-C187-156174BB8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74A5F-870D-F62F-BDAA-A0A9859B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32B30-39A3-00CD-A5AE-9A652803D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6CC06-D1A4-767D-7C57-EC2FCEC4E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1B8EFB-B0D3-DA4A-7A05-EC2428010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7629B-922E-A4F3-FE09-E77398C99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22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52657-E505-4A91-A96A-20FABDBB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8E36E4-8E73-8437-6B31-45927020FD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1B500-B1C6-082A-6F7E-92865751E8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06FF0-D117-8966-333A-0FBA72E9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A9AD8-A9CA-8664-811F-A7CEE37A1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3F0BA-6C76-3ACE-B7E4-B3C839C8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72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02FC1-F93D-B733-714F-EEE48BF8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40127-20AD-9432-CB99-223E82407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13C3F-107D-B457-1A68-241118833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6D996-54D3-F598-B285-FA601425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757C-CD3E-3703-29B4-EC02752DC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61F99C-6D3F-3AE2-B00F-7AEDFB9642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143DD-38EE-D7A4-1FA3-BBC9E8541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5C510-87AB-A3EB-45C8-14445573F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3F85F-3624-5B59-F135-88572B891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B8F7-B957-9EA2-8492-F95993CA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31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E23A7-5E52-E893-9AD3-007967CE6C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AE066-0F4D-C32A-DE7A-00A13AA0E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BAE78-6DAE-8C3F-F4DD-F42469DB8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768A-87F5-9902-D828-40DD456E5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5DE3C-318A-3BC7-254C-FCA2B78E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22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DD0E-0804-9FD4-64BB-A471628F5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888F4-086E-1F7A-9447-574541E43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A841F-8BAA-E4CC-61CF-386CBFC5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23E26-C62D-F308-57E6-6945F61F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6B8-D2B0-1A88-2802-9CC5AAF93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00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013C0-D328-BDBC-D0BE-8C6B1BEA5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E93D3-E307-613D-FA86-6F1D9423C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AB59E-20D8-3B42-4723-9D5AE1B81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B663-D459-D404-0EF1-3A862CC5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FE9BD-0E65-4510-730A-7E8C2821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52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4A6C-44A6-C47D-112D-105AFBF87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30CA6-DAEA-7E9D-2DC7-10A235589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44ED9-BDDE-C4B1-1D0E-B5485B3C6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E4F36-0B64-5740-13CE-687A291B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16E6E-998E-0896-C085-40A3D431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2E42C-CB7C-EB1C-A48B-6A6CA310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290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A38AC-9EF4-BAA0-C998-F76667FCE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4BE6D-1A64-5EB9-8E9B-5421A4464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2CC98-D8A1-1284-9EC4-D3498987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DC796-8760-51A4-69CA-EB1A07A3D9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0ABC62-37C7-21B6-3F2B-92519440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C6E4A8-84B6-6A6D-88D6-122D56676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419DB9-7C62-638F-C56F-99C71F024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9AB2F1-2599-C0A4-CE09-800614A41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6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208E8-5D7C-0A56-37D2-1DB7C97C9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991CC-1AA2-0733-B149-A6C10CBB5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908F6E-B844-9300-7370-71A5EB24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E99F77-364A-5417-0A8E-4B74CDAC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841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7715D-249E-0242-B2C7-979C73A61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83CB45-88BE-BFD3-F73A-A6384BC23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FDA9-274C-E699-A456-9EC91A98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404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13553-943E-91C2-B8DF-EF05C8EA0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DE9-6D66-82D7-1D58-E43ED5936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1F3DE-0BD6-C935-C408-D7C5A5FB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02C91-735D-A3D4-97A3-23A79199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403B3-DF03-2E96-9979-34DE0E94B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79285-85CD-A616-C90D-C1D818E8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711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0AB6B-192E-8762-DD31-C16B61614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78BED-F944-7CA2-4394-F5D505DF4E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36B88-BC0C-09DB-F288-F833DE212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DF5-747D-B106-3F3F-5860402F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498FA-6A7F-5412-42DC-8FE5A992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95D7-7F80-8C96-DC6F-AD2077034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8630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2029-5AF6-E7B8-05CE-535A32CE2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04447-11CC-8878-38FB-225C7F9CE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6952D-AD2A-4614-30A0-220E3F85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8AF2-52C3-ADCC-F369-4686C286A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7FF2-ED62-525A-FED4-9EFB414E0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183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8430B7-3E89-6158-B7B2-3E98FA642D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A81D7D-F839-3829-C7C1-2066A69C5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EB372-102F-3CF9-E542-3954EADBF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49298-1BDF-B168-D1B8-1567EE042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091F-075B-53FB-C208-941FB98F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195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58A7-C842-1306-85A9-D5869D2CB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2B739-A0DB-E465-2DD1-FC2F63B4E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F2E29-6675-11F3-C587-415AFD73C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ACCD3-EA0F-88A1-555B-2F0923AC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07F3-352C-26B3-AD9C-C25997954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652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E9E25-7B0F-2E27-972A-9374391F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CA61-FDE1-B86C-D6C0-A0456B480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6CA65-7308-7A92-3FF9-DDFF59D6D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81FC9-3AF9-CA12-49A8-CFA6E5C9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1F95D-66D7-2C1B-BBB9-1DED127A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707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F506-103F-59F0-CDD9-21708A4A5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F001D-2655-BE0C-E5C9-3973A882A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2C312-9871-73D3-9A4D-5534C80C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969B6-DE58-DA29-543F-18DBA934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5D59F-0828-6725-C785-3D5FF463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147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98AC-F134-177F-7BC9-A910FA4D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78B-97AD-F464-FFA2-43043EBD3F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AC0EC-80AC-6E84-16D5-C507DDD96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A64FE-FC87-801A-C851-B7494F72E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1DA7AB-4963-0D09-B25C-CE168A89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0F405-FCBD-27FD-E780-A5048A0B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3689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2501-0AEB-508A-9C5F-3F9FABB6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07663-2E9D-C656-68BE-82582533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6E273C-A8E5-4904-E2D2-247B6BDCC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F18BE-00B8-17BD-F80C-0DDD4ECA4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AEE12-2E2D-5EAF-0129-C46867630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897EDD-65BE-7504-B6B1-6B9ACE957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7187A-AD97-2A9E-BCEB-63E04EC2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B81EC2-7FC4-9857-2136-C853C98FB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340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F7F4-0D6B-2633-5F89-DD2FE64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C744D-B9A8-5435-C58A-B6A18FB1B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06396-D959-94C3-719C-86CEBF80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9F0D3-245F-D099-E381-A1AA0BCA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08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10C35-01ED-5FC8-D93C-526A6A29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5287F-181B-3DEB-364C-3D1831229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DB13C-EAD2-119E-1773-0D186FBC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43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4B01-A7A7-7B8C-7C09-A1D0763B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7894D-BD14-70D7-1AB7-DE58ABE3A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5AD15A-1936-916D-B5EF-39CF30481F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DAD62-B7B3-9F7E-EABD-C741DD7B1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DF03A-7A9B-E2E1-EFD8-605FEC71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9A7-35F5-86F4-8830-D014FF0A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77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81D47-2CA0-76D0-DD0A-8D8A171CD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0065D6-2C3C-6AD7-97A9-25CE4ABC34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3ED7-F437-5B72-02E1-9067F58EA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780A9-CD14-BF71-4F5F-56C4BEDC2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0EA1D2-D8E9-67BD-AE53-9900E076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DE7DE-58A9-7DA7-46CC-EBC1C1C4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48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D1F14-6648-DAA7-4002-266662C1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4796A8-7321-F8D3-DFC0-968290E35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FC285-911B-C6C7-7C45-FA81BE2C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DA7CD-BB57-D71C-48A7-0E33159F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7D385-DDD9-4E67-584E-75D39FF8C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0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BF8148-8509-EBFE-94CD-F7ED78939C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077F-41CC-4782-6A35-4F6E000EF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31E7C-C273-CF1C-938A-85130FFF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B659D-4F98-527C-7288-07B3271B3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58127-1D49-DC05-A50E-C8FCF0B6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83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A5223-96CB-A5E1-6C11-10B540EA6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3006F-5EC2-E6F3-4E21-74FA8CDC9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D6AF6E-E243-E44A-CA4E-0814958D37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F66EB-75D1-4F39-A695-C21168DF277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F562B-AC2E-8862-7BC1-7D2278800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A5291-A973-6A90-5D0B-FB5597341E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F57730-F742-4864-9BBB-A7A4C7194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7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AB0F0F-B815-E535-9A75-9B3EA715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921A-832D-C527-4BA2-CBE61BD86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3067F-945B-E481-C18B-D01803C373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987B-B086-4975-AF98-81806256813A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8F682-4931-6A1B-220A-1A4564B85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51A6F-F8DB-D674-1325-396C3BA2D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A862B-D317-4794-9DCA-0F7958F7C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40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B43E6B-BE7C-F7B5-8F96-E098E8F8A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7BC90-F11E-7B2A-E678-5FC15B91C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A7AFC-7092-1DF9-83F5-76910805B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9EC95-7019-459D-A010-A8B68B1545FD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F60B2-53C0-725C-1263-280DCC3EB3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D43FB-7697-1ADD-EDD4-DA4582F60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DDDA2E-F081-49F6-8D28-15B31F097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55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F58A052-A60C-69D9-C4BA-F53BA9772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674" y="0"/>
            <a:ext cx="4396063" cy="329704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009661-F51A-E94E-E81D-365FE63F9E5B}"/>
              </a:ext>
            </a:extLst>
          </p:cNvPr>
          <p:cNvSpPr/>
          <p:nvPr/>
        </p:nvSpPr>
        <p:spPr>
          <a:xfrm>
            <a:off x="282761" y="429699"/>
            <a:ext cx="6389891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sz="4400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C49E40-821F-3140-1DC1-541015007926}"/>
              </a:ext>
            </a:extLst>
          </p:cNvPr>
          <p:cNvSpPr/>
          <p:nvPr/>
        </p:nvSpPr>
        <p:spPr>
          <a:xfrm>
            <a:off x="282761" y="1303571"/>
            <a:ext cx="5646097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243AB0-34D3-791E-CF42-A0835F2F38B1}"/>
              </a:ext>
            </a:extLst>
          </p:cNvPr>
          <p:cNvSpPr/>
          <p:nvPr/>
        </p:nvSpPr>
        <p:spPr>
          <a:xfrm>
            <a:off x="282761" y="2102475"/>
            <a:ext cx="323999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CE04A1-AF75-6C5C-C3CD-43BF14097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18A937B8-538B-6A6B-D94E-385234C6D801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94D3DC-0CC3-1542-5A0A-B1FE9451E6A1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50B76F-3963-9F81-5B60-31940C992259}"/>
              </a:ext>
            </a:extLst>
          </p:cNvPr>
          <p:cNvSpPr/>
          <p:nvPr/>
        </p:nvSpPr>
        <p:spPr>
          <a:xfrm>
            <a:off x="1115360" y="3137306"/>
            <a:ext cx="787396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969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56608-B284-A2D0-BDBA-952F723B5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4EF16E-F976-1573-FE2C-DF4771C0F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373" y="156148"/>
            <a:ext cx="1753363" cy="13150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9B6176-2CED-8D52-4C2F-AC09D0B75790}"/>
              </a:ext>
            </a:extLst>
          </p:cNvPr>
          <p:cNvSpPr/>
          <p:nvPr/>
        </p:nvSpPr>
        <p:spPr>
          <a:xfrm>
            <a:off x="296741" y="242484"/>
            <a:ext cx="2728632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defTabSz="457200"/>
            <a:r>
              <a:rPr lang="en-US" dirty="0">
                <a:ln w="0"/>
                <a:solidFill>
                  <a:srgbClr val="196B24">
                    <a:lumMod val="50000"/>
                  </a:srgbClr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Getting Started With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870786-FC60-BA38-F6F0-E1F94B1D0425}"/>
              </a:ext>
            </a:extLst>
          </p:cNvPr>
          <p:cNvSpPr/>
          <p:nvPr/>
        </p:nvSpPr>
        <p:spPr>
          <a:xfrm>
            <a:off x="322982" y="533003"/>
            <a:ext cx="246253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Microsoft Access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942B3F-C44E-E49D-C240-860CFB162E67}"/>
              </a:ext>
            </a:extLst>
          </p:cNvPr>
          <p:cNvSpPr/>
          <p:nvPr/>
        </p:nvSpPr>
        <p:spPr>
          <a:xfrm>
            <a:off x="322982" y="844684"/>
            <a:ext cx="1459053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defTabSz="457200"/>
            <a:r>
              <a:rPr lang="en-US" sz="20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Database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6BEBC7-6306-0D0D-10D3-F15D6C2C4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030" y="5449702"/>
            <a:ext cx="12225030" cy="1408298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00602527-EC75-9458-5B67-0DD54517B4C8}"/>
              </a:ext>
            </a:extLst>
          </p:cNvPr>
          <p:cNvSpPr txBox="1">
            <a:spLocks/>
          </p:cNvSpPr>
          <p:nvPr/>
        </p:nvSpPr>
        <p:spPr>
          <a:xfrm>
            <a:off x="-611188" y="5977329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prstClr val="white"/>
                </a:solidFill>
                <a:latin typeface="Arial Black" panose="020B0A04020102020204" pitchFamily="34" charset="0"/>
              </a:rPr>
              <a:t>Said Fawzy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7E070D-9BC5-3A28-56F7-F7FC80052728}"/>
              </a:ext>
            </a:extLst>
          </p:cNvPr>
          <p:cNvSpPr txBox="1"/>
          <p:nvPr/>
        </p:nvSpPr>
        <p:spPr>
          <a:xfrm>
            <a:off x="2526030" y="5692186"/>
            <a:ext cx="61127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Manager of Information Center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Tendering Department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prstClr val="white"/>
                </a:solidFill>
                <a:latin typeface="Arial Black" panose="020B0A04020102020204" pitchFamily="34" charset="0"/>
              </a:rPr>
              <a:t>Arab Contractors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E2C13-0BDB-24E3-7B93-1B89568A2A9E}"/>
              </a:ext>
            </a:extLst>
          </p:cNvPr>
          <p:cNvSpPr/>
          <p:nvPr/>
        </p:nvSpPr>
        <p:spPr>
          <a:xfrm>
            <a:off x="0" y="1744858"/>
            <a:ext cx="12191999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8800" b="1" cap="none" spc="0" dirty="0">
                <a:ln/>
                <a:solidFill>
                  <a:srgbClr val="881421"/>
                </a:solidFill>
                <a:effectLst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CC786A-06CE-02DD-A14F-F6AC052C8950}"/>
              </a:ext>
            </a:extLst>
          </p:cNvPr>
          <p:cNvSpPr/>
          <p:nvPr/>
        </p:nvSpPr>
        <p:spPr>
          <a:xfrm>
            <a:off x="-63685" y="3476551"/>
            <a:ext cx="12255685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457200"/>
            <a:r>
              <a:rPr lang="en-US" sz="4800" dirty="0">
                <a:ln w="0"/>
                <a:solidFill>
                  <a:srgbClr val="88142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Montserrat Bold" panose="00000800000000000000" pitchFamily="2" charset="0"/>
              </a:rPr>
              <a:t>Building Tables</a:t>
            </a:r>
          </a:p>
        </p:txBody>
      </p:sp>
    </p:spTree>
    <p:extLst>
      <p:ext uri="{BB962C8B-B14F-4D97-AF65-F5344CB8AC3E}">
        <p14:creationId xmlns:p14="http://schemas.microsoft.com/office/powerpoint/2010/main" val="306286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A80E0B0-2069-4CBE-93AD-77AEA890AE2A}"/>
              </a:ext>
            </a:extLst>
          </p:cNvPr>
          <p:cNvSpPr/>
          <p:nvPr/>
        </p:nvSpPr>
        <p:spPr>
          <a:xfrm>
            <a:off x="7251" y="-493486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CB93AC6-FE87-4FA9-BBD4-F140C94A9C2A}"/>
              </a:ext>
            </a:extLst>
          </p:cNvPr>
          <p:cNvGrpSpPr/>
          <p:nvPr/>
        </p:nvGrpSpPr>
        <p:grpSpPr>
          <a:xfrm>
            <a:off x="1437351" y="1240021"/>
            <a:ext cx="3600000" cy="635091"/>
            <a:chOff x="1437351" y="1240021"/>
            <a:chExt cx="3600000" cy="635091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4A175DB-5D33-43C8-AAE4-B1E831D1A234}"/>
                </a:ext>
              </a:extLst>
            </p:cNvPr>
            <p:cNvSpPr/>
            <p:nvPr/>
          </p:nvSpPr>
          <p:spPr>
            <a:xfrm flipV="1">
              <a:off x="1437351" y="124002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0066CC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E0ECA3F-8570-4FB5-931A-BBA5339DECE3}"/>
                </a:ext>
              </a:extLst>
            </p:cNvPr>
            <p:cNvSpPr txBox="1"/>
            <p:nvPr/>
          </p:nvSpPr>
          <p:spPr>
            <a:xfrm>
              <a:off x="1615267" y="1543089"/>
              <a:ext cx="342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Table in Datasheet View 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7A620AF-3788-4F4E-848F-1363C314793B}"/>
              </a:ext>
            </a:extLst>
          </p:cNvPr>
          <p:cNvSpPr txBox="1"/>
          <p:nvPr/>
        </p:nvSpPr>
        <p:spPr>
          <a:xfrm>
            <a:off x="1337029" y="92256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9AEF2E9-14F9-4365-BFB5-3C0CF7A052E9}"/>
              </a:ext>
            </a:extLst>
          </p:cNvPr>
          <p:cNvGrpSpPr/>
          <p:nvPr/>
        </p:nvGrpSpPr>
        <p:grpSpPr>
          <a:xfrm>
            <a:off x="1437351" y="2358630"/>
            <a:ext cx="3600000" cy="635091"/>
            <a:chOff x="1437351" y="2358630"/>
            <a:chExt cx="3600000" cy="63509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14AB1F3-023E-48AE-989E-4EA1B96825EF}"/>
                </a:ext>
              </a:extLst>
            </p:cNvPr>
            <p:cNvSpPr/>
            <p:nvPr/>
          </p:nvSpPr>
          <p:spPr>
            <a:xfrm flipV="1">
              <a:off x="1437351" y="2358630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70A834-DA13-468F-A794-3687E8A14304}"/>
                </a:ext>
              </a:extLst>
            </p:cNvPr>
            <p:cNvSpPr txBox="1"/>
            <p:nvPr/>
          </p:nvSpPr>
          <p:spPr>
            <a:xfrm>
              <a:off x="1615267" y="2671223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Create a Table in Design View Mode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F01748C-1478-4628-8CDE-6C69DF1916E8}"/>
              </a:ext>
            </a:extLst>
          </p:cNvPr>
          <p:cNvSpPr txBox="1"/>
          <p:nvPr/>
        </p:nvSpPr>
        <p:spPr>
          <a:xfrm>
            <a:off x="1337029" y="2041172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6664870-6B63-42D0-8F14-11DB5DD34C01}"/>
              </a:ext>
            </a:extLst>
          </p:cNvPr>
          <p:cNvGrpSpPr/>
          <p:nvPr/>
        </p:nvGrpSpPr>
        <p:grpSpPr>
          <a:xfrm>
            <a:off x="1437351" y="3508485"/>
            <a:ext cx="3600000" cy="635091"/>
            <a:chOff x="1437351" y="3508485"/>
            <a:chExt cx="3600000" cy="635091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4F560C-A913-4090-9959-6C383EC2884F}"/>
                </a:ext>
              </a:extLst>
            </p:cNvPr>
            <p:cNvSpPr/>
            <p:nvPr/>
          </p:nvSpPr>
          <p:spPr>
            <a:xfrm flipV="1">
              <a:off x="1437351" y="3508485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FF0066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1C56302-C5A7-4907-ABF1-8DD9AEA874F5}"/>
                </a:ext>
              </a:extLst>
            </p:cNvPr>
            <p:cNvSpPr txBox="1"/>
            <p:nvPr/>
          </p:nvSpPr>
          <p:spPr>
            <a:xfrm>
              <a:off x="1615267" y="3821078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Defining fields and data types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A7C455A-AC74-479B-AE4B-995389E7560F}"/>
              </a:ext>
            </a:extLst>
          </p:cNvPr>
          <p:cNvSpPr txBox="1"/>
          <p:nvPr/>
        </p:nvSpPr>
        <p:spPr>
          <a:xfrm>
            <a:off x="1366405" y="3180455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AEF9E77-574A-472A-9033-74F762D0FFFE}"/>
              </a:ext>
            </a:extLst>
          </p:cNvPr>
          <p:cNvGrpSpPr/>
          <p:nvPr/>
        </p:nvGrpSpPr>
        <p:grpSpPr>
          <a:xfrm>
            <a:off x="1437351" y="4595186"/>
            <a:ext cx="3600000" cy="635091"/>
            <a:chOff x="1437351" y="4595186"/>
            <a:chExt cx="3600000" cy="63509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05014D-DEA7-40C6-8F42-75D6E870D921}"/>
                </a:ext>
              </a:extLst>
            </p:cNvPr>
            <p:cNvSpPr/>
            <p:nvPr/>
          </p:nvSpPr>
          <p:spPr>
            <a:xfrm flipV="1">
              <a:off x="1437351" y="4595186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00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18858D-92CA-4C6D-B72C-30113CF40202}"/>
                </a:ext>
              </a:extLst>
            </p:cNvPr>
            <p:cNvSpPr txBox="1"/>
            <p:nvPr/>
          </p:nvSpPr>
          <p:spPr>
            <a:xfrm>
              <a:off x="1615267" y="4907779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All Data Types available in MS Access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E5BF2B6-2249-4492-AB84-85AC37DCD3F6}"/>
              </a:ext>
            </a:extLst>
          </p:cNvPr>
          <p:cNvSpPr txBox="1"/>
          <p:nvPr/>
        </p:nvSpPr>
        <p:spPr>
          <a:xfrm>
            <a:off x="1337029" y="4277728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43C060D-2E53-4DC4-9135-4496E9961F82}"/>
              </a:ext>
            </a:extLst>
          </p:cNvPr>
          <p:cNvSpPr/>
          <p:nvPr/>
        </p:nvSpPr>
        <p:spPr>
          <a:xfrm>
            <a:off x="6096000" y="-483725"/>
            <a:ext cx="3329256" cy="7984420"/>
          </a:xfrm>
          <a:custGeom>
            <a:avLst/>
            <a:gdLst>
              <a:gd name="connsiteX0" fmla="*/ 0 w 3329256"/>
              <a:gd name="connsiteY0" fmla="*/ 0 h 7984420"/>
              <a:gd name="connsiteX1" fmla="*/ 1 w 3329256"/>
              <a:gd name="connsiteY1" fmla="*/ 0 h 7984420"/>
              <a:gd name="connsiteX2" fmla="*/ 1898776 w 3329256"/>
              <a:gd name="connsiteY2" fmla="*/ 1713483 h 7984420"/>
              <a:gd name="connsiteX3" fmla="*/ 1908630 w 3329256"/>
              <a:gd name="connsiteY3" fmla="*/ 1908628 h 7984420"/>
              <a:gd name="connsiteX4" fmla="*/ 1908630 w 3329256"/>
              <a:gd name="connsiteY4" fmla="*/ 6075792 h 7984420"/>
              <a:gd name="connsiteX5" fmla="*/ 1908626 w 3329256"/>
              <a:gd name="connsiteY5" fmla="*/ 6075792 h 7984420"/>
              <a:gd name="connsiteX6" fmla="*/ 1915960 w 3329256"/>
              <a:gd name="connsiteY6" fmla="*/ 6221042 h 7984420"/>
              <a:gd name="connsiteX7" fmla="*/ 3329256 w 3329256"/>
              <a:gd name="connsiteY7" fmla="*/ 7496421 h 7984420"/>
              <a:gd name="connsiteX8" fmla="*/ 3329256 w 3329256"/>
              <a:gd name="connsiteY8" fmla="*/ 7984420 h 7984420"/>
              <a:gd name="connsiteX9" fmla="*/ 3329255 w 3329256"/>
              <a:gd name="connsiteY9" fmla="*/ 7984420 h 7984420"/>
              <a:gd name="connsiteX10" fmla="*/ 1430480 w 3329256"/>
              <a:gd name="connsiteY10" fmla="*/ 6270937 h 7984420"/>
              <a:gd name="connsiteX11" fmla="*/ 1420626 w 3329256"/>
              <a:gd name="connsiteY11" fmla="*/ 6075792 h 7984420"/>
              <a:gd name="connsiteX12" fmla="*/ 1420626 w 3329256"/>
              <a:gd name="connsiteY12" fmla="*/ 1908628 h 7984420"/>
              <a:gd name="connsiteX13" fmla="*/ 1420630 w 3329256"/>
              <a:gd name="connsiteY13" fmla="*/ 1908628 h 7984420"/>
              <a:gd name="connsiteX14" fmla="*/ 1413296 w 3329256"/>
              <a:gd name="connsiteY14" fmla="*/ 1763378 h 7984420"/>
              <a:gd name="connsiteX15" fmla="*/ 0 w 3329256"/>
              <a:gd name="connsiteY15" fmla="*/ 487999 h 7984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329256" h="7984420">
                <a:moveTo>
                  <a:pt x="0" y="0"/>
                </a:moveTo>
                <a:lnTo>
                  <a:pt x="1" y="0"/>
                </a:lnTo>
                <a:cubicBezTo>
                  <a:pt x="988227" y="0"/>
                  <a:pt x="1801035" y="751045"/>
                  <a:pt x="1898776" y="1713483"/>
                </a:cubicBezTo>
                <a:lnTo>
                  <a:pt x="1908630" y="1908628"/>
                </a:lnTo>
                <a:lnTo>
                  <a:pt x="1908630" y="6075792"/>
                </a:lnTo>
                <a:lnTo>
                  <a:pt x="1908626" y="6075792"/>
                </a:lnTo>
                <a:lnTo>
                  <a:pt x="1915960" y="6221042"/>
                </a:lnTo>
                <a:cubicBezTo>
                  <a:pt x="1988711" y="6937403"/>
                  <a:pt x="2593701" y="7496421"/>
                  <a:pt x="3329256" y="7496421"/>
                </a:cubicBezTo>
                <a:lnTo>
                  <a:pt x="3329256" y="7984420"/>
                </a:lnTo>
                <a:lnTo>
                  <a:pt x="3329255" y="7984420"/>
                </a:lnTo>
                <a:cubicBezTo>
                  <a:pt x="2341029" y="7984420"/>
                  <a:pt x="1528221" y="7233375"/>
                  <a:pt x="1430480" y="6270937"/>
                </a:cubicBezTo>
                <a:lnTo>
                  <a:pt x="1420626" y="6075792"/>
                </a:lnTo>
                <a:lnTo>
                  <a:pt x="1420626" y="1908628"/>
                </a:lnTo>
                <a:lnTo>
                  <a:pt x="1420630" y="1908628"/>
                </a:lnTo>
                <a:lnTo>
                  <a:pt x="1413296" y="1763378"/>
                </a:lnTo>
                <a:cubicBezTo>
                  <a:pt x="1340545" y="1047017"/>
                  <a:pt x="735555" y="487999"/>
                  <a:pt x="0" y="487999"/>
                </a:cubicBezTo>
                <a:close/>
              </a:path>
            </a:pathLst>
          </a:custGeom>
          <a:gradFill flip="none" rotWithShape="1">
            <a:gsLst>
              <a:gs pos="61000">
                <a:srgbClr val="00CC99"/>
              </a:gs>
              <a:gs pos="27400">
                <a:srgbClr val="33CCFF"/>
              </a:gs>
              <a:gs pos="0">
                <a:srgbClr val="000099"/>
              </a:gs>
              <a:gs pos="100000">
                <a:srgbClr val="0066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FD3B500-F92F-482C-8E23-81B5FA8685B4}"/>
              </a:ext>
            </a:extLst>
          </p:cNvPr>
          <p:cNvGrpSpPr/>
          <p:nvPr/>
        </p:nvGrpSpPr>
        <p:grpSpPr>
          <a:xfrm>
            <a:off x="7526100" y="1249782"/>
            <a:ext cx="3600000" cy="635091"/>
            <a:chOff x="7526100" y="1249782"/>
            <a:chExt cx="3600000" cy="63509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B94A9F0-2E6E-4D6A-8378-2AC66526190C}"/>
                </a:ext>
              </a:extLst>
            </p:cNvPr>
            <p:cNvSpPr/>
            <p:nvPr/>
          </p:nvSpPr>
          <p:spPr>
            <a:xfrm flipV="1">
              <a:off x="7526100" y="1249782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3399FF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370C1F-83CA-436E-B50A-0F6859EA3ABB}"/>
                </a:ext>
              </a:extLst>
            </p:cNvPr>
            <p:cNvSpPr txBox="1"/>
            <p:nvPr/>
          </p:nvSpPr>
          <p:spPr>
            <a:xfrm>
              <a:off x="7704016" y="1562375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Data types Pros and Cons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58DE280-C921-4E8F-A898-82F169A9F75C}"/>
              </a:ext>
            </a:extLst>
          </p:cNvPr>
          <p:cNvSpPr txBox="1"/>
          <p:nvPr/>
        </p:nvSpPr>
        <p:spPr>
          <a:xfrm>
            <a:off x="7425778" y="932324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F92536E-FDBC-4303-94F0-E826BDEA4BA2}"/>
              </a:ext>
            </a:extLst>
          </p:cNvPr>
          <p:cNvGrpSpPr/>
          <p:nvPr/>
        </p:nvGrpSpPr>
        <p:grpSpPr>
          <a:xfrm>
            <a:off x="7526100" y="2368391"/>
            <a:ext cx="3600000" cy="635091"/>
            <a:chOff x="7526100" y="2368391"/>
            <a:chExt cx="3600000" cy="635091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20D763-9758-4BDD-811F-EB7B79E575F9}"/>
                </a:ext>
              </a:extLst>
            </p:cNvPr>
            <p:cNvSpPr/>
            <p:nvPr/>
          </p:nvSpPr>
          <p:spPr>
            <a:xfrm flipV="1">
              <a:off x="7526100" y="2368391"/>
              <a:ext cx="3600000" cy="635091"/>
            </a:xfrm>
            <a:custGeom>
              <a:avLst/>
              <a:gdLst>
                <a:gd name="connsiteX0" fmla="*/ 314185 w 3126929"/>
                <a:gd name="connsiteY0" fmla="*/ 0 h 727424"/>
                <a:gd name="connsiteX1" fmla="*/ 3126929 w 3126929"/>
                <a:gd name="connsiteY1" fmla="*/ 0 h 727424"/>
                <a:gd name="connsiteX2" fmla="*/ 3126929 w 3126929"/>
                <a:gd name="connsiteY2" fmla="*/ 413239 h 727424"/>
                <a:gd name="connsiteX3" fmla="*/ 314185 w 3126929"/>
                <a:gd name="connsiteY3" fmla="*/ 413239 h 727424"/>
                <a:gd name="connsiteX4" fmla="*/ 0 w 3126929"/>
                <a:gd name="connsiteY4" fmla="*/ 727424 h 727424"/>
                <a:gd name="connsiteX5" fmla="*/ 0 w 3126929"/>
                <a:gd name="connsiteY5" fmla="*/ 314185 h 727424"/>
                <a:gd name="connsiteX6" fmla="*/ 314185 w 3126929"/>
                <a:gd name="connsiteY6" fmla="*/ 0 h 727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26929" h="727424">
                  <a:moveTo>
                    <a:pt x="314185" y="0"/>
                  </a:moveTo>
                  <a:lnTo>
                    <a:pt x="3126929" y="0"/>
                  </a:lnTo>
                  <a:lnTo>
                    <a:pt x="3126929" y="413239"/>
                  </a:lnTo>
                  <a:lnTo>
                    <a:pt x="314185" y="413239"/>
                  </a:lnTo>
                  <a:cubicBezTo>
                    <a:pt x="140665" y="413239"/>
                    <a:pt x="0" y="553904"/>
                    <a:pt x="0" y="727424"/>
                  </a:cubicBezTo>
                  <a:lnTo>
                    <a:pt x="0" y="314185"/>
                  </a:lnTo>
                  <a:cubicBezTo>
                    <a:pt x="0" y="140665"/>
                    <a:pt x="140665" y="0"/>
                    <a:pt x="314185" y="0"/>
                  </a:cubicBezTo>
                  <a:close/>
                </a:path>
              </a:pathLst>
            </a:custGeom>
            <a:solidFill>
              <a:srgbClr val="CCCC00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0F2E9AC-78E0-4B8F-8A45-B82DCB1AFA77}"/>
                </a:ext>
              </a:extLst>
            </p:cNvPr>
            <p:cNvSpPr txBox="1"/>
            <p:nvPr/>
          </p:nvSpPr>
          <p:spPr>
            <a:xfrm>
              <a:off x="7704016" y="2680984"/>
              <a:ext cx="3420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Creating table using template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D32EF17F-EA45-4B2A-81E7-074A0F20CF88}"/>
              </a:ext>
            </a:extLst>
          </p:cNvPr>
          <p:cNvSpPr txBox="1"/>
          <p:nvPr/>
        </p:nvSpPr>
        <p:spPr>
          <a:xfrm>
            <a:off x="7425778" y="2050933"/>
            <a:ext cx="65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E8E3CB-5A1C-0E82-A348-B085413B0B6F}"/>
              </a:ext>
            </a:extLst>
          </p:cNvPr>
          <p:cNvGrpSpPr/>
          <p:nvPr/>
        </p:nvGrpSpPr>
        <p:grpSpPr>
          <a:xfrm>
            <a:off x="8934450" y="218153"/>
            <a:ext cx="3062072" cy="548112"/>
            <a:chOff x="8151095" y="218152"/>
            <a:chExt cx="3845427" cy="686723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8C9D4B7-6E07-C223-54C1-F95B9CAB2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1095" y="218152"/>
              <a:ext cx="3810478" cy="686723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A0D5DD6-1793-3E29-B2B9-F6A49CD06B66}"/>
                </a:ext>
              </a:extLst>
            </p:cNvPr>
            <p:cNvSpPr/>
            <p:nvPr/>
          </p:nvSpPr>
          <p:spPr>
            <a:xfrm>
              <a:off x="11942522" y="733425"/>
              <a:ext cx="54000" cy="171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647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5" grpId="0"/>
      <p:bldP spid="19" grpId="0"/>
      <p:bldP spid="23" grpId="0"/>
      <p:bldP spid="25" grpId="0" animBg="1"/>
      <p:bldP spid="28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219"/>
            <a:ext cx="68199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Lab 2A: </a:t>
            </a:r>
            <a:b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5000" b="1" dirty="0">
                <a:solidFill>
                  <a:schemeClr val="bg1"/>
                </a:solidFill>
              </a:rPr>
              <a:t>Creating Table in Datasheet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43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2A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D5D9B7AE-E9E0-868A-8DEB-3E3454C10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25" y="1245599"/>
            <a:ext cx="2769073" cy="1636767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60EEBF9-A1BC-6FA9-6B27-44A909BE6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109" y="3070279"/>
            <a:ext cx="5963512" cy="221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6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688E0A9-8B7A-297A-1354-8DC594669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84" y="1639517"/>
            <a:ext cx="2897580" cy="466401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E8CA78D-40EC-40AD-F66C-71679086B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260" y="1639517"/>
            <a:ext cx="5408072" cy="1424764"/>
          </a:xfrm>
          <a:prstGeom prst="rect">
            <a:avLst/>
          </a:prstGeom>
        </p:spPr>
      </p:pic>
      <p:pic>
        <p:nvPicPr>
          <p:cNvPr id="5" name="Picture 4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F1D97849-F85A-F406-5943-60558D057C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4717" y="3992372"/>
            <a:ext cx="5835435" cy="129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390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2A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D2E883F-6E68-AD38-B545-9A89EDCDCB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122" y="1605003"/>
            <a:ext cx="4277450" cy="1624579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84B7CC97-3D4B-F5FB-6BAB-403D4344C3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406" y="3621086"/>
            <a:ext cx="5190462" cy="219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31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2B: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a table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Using Design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333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AAC806D6-87CD-75E2-D678-ED59E6DA1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4764" y="2532240"/>
            <a:ext cx="5406270" cy="2681786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6FC99ADD-896B-F776-4D87-23555572F5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317" y="1661226"/>
            <a:ext cx="4487044" cy="174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40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2B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58F51B59-04D5-3805-0AE0-77645EA63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256" y="1709779"/>
            <a:ext cx="4988106" cy="2405022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EC026555-80CD-8635-1419-E0E95BB33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715" y="3866604"/>
            <a:ext cx="2044132" cy="165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5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12CD8-41B9-9F0A-C01C-2FC1C86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2CB1E-3A58-B789-F204-140E5CED1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82" y="1574310"/>
            <a:ext cx="11940544" cy="528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8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12CD8-41B9-9F0A-C01C-2FC1C86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Data Types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1BCE42-72F5-965E-1C07-77BECDE27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1655276"/>
            <a:ext cx="11601282" cy="5104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3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12CD8-41B9-9F0A-C01C-2FC1C86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Access Data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3F07CB-251D-D407-E4C3-A34D729D6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1574310"/>
            <a:ext cx="12186720" cy="419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2C: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Creating Table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from Table Template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974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B825F-4278-3AB4-0225-A2F98A9D88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565" y="1561837"/>
            <a:ext cx="2987219" cy="3321947"/>
          </a:xfrm>
          <a:prstGeom prst="rect">
            <a:avLst/>
          </a:prstGeom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F6018416-0A04-FB3A-35FA-FBAB62004A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702" y="2200356"/>
            <a:ext cx="3483217" cy="27167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1A0D6E-BC8C-2DE1-D897-0620E679FB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515" y="1502092"/>
            <a:ext cx="2675336" cy="3869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6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39FBD-9976-66D6-113F-13D9A685E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Table Datasheet view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5B230520-C7EB-94EF-EFFB-95B578F9A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41" y="1822348"/>
            <a:ext cx="1079311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83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2D: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Working with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table datasheet view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11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2D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C32A08D-B64C-C9BC-FB17-6B39D1B85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925" y="1359872"/>
            <a:ext cx="3212580" cy="150006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8B48156-5E2B-B370-F97E-5ACDCED553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571" y="914657"/>
            <a:ext cx="2955228" cy="473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23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D412E9-D69E-CE69-411E-116F4DD353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079" y="1352145"/>
            <a:ext cx="3781519" cy="324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5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2D</a:t>
            </a: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951C926-B249-DA21-4A4C-7D8757D62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16" y="1166926"/>
            <a:ext cx="3007101" cy="1695235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46A51578-9339-9379-7367-87EE95FD9A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596" y="3253323"/>
            <a:ext cx="2437751" cy="2437751"/>
          </a:xfrm>
          <a:prstGeom prst="rect">
            <a:avLst/>
          </a:prstGeom>
        </p:spPr>
      </p:pic>
      <p:pic>
        <p:nvPicPr>
          <p:cNvPr id="6" name="Picture 5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5AB1FD91-D51A-FF6D-B9AB-B129DE49D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98" y="3600114"/>
            <a:ext cx="4011038" cy="1524744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EE20D51-D7AE-7D7E-3447-9AB4F84D14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687" y="2642430"/>
            <a:ext cx="2031048" cy="157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07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Training Overview - WRAP Compliance">
            <a:extLst>
              <a:ext uri="{FF2B5EF4-FFF2-40B4-BE49-F238E27FC236}">
                <a16:creationId xmlns:a16="http://schemas.microsoft.com/office/drawing/2014/main" id="{DA78AECF-577E-3725-3D3F-054EF944D2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9" r="1" b="1"/>
          <a:stretch/>
        </p:blipFill>
        <p:spPr bwMode="auto">
          <a:xfrm>
            <a:off x="4547937" y="-5"/>
            <a:ext cx="7644062" cy="368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32E999-EC89-76D5-F3E3-A451CC0CEE9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7" r="30796" b="-1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8717305-0D16-7503-D571-9A7D99078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15219"/>
            <a:ext cx="6905625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Lab 2E: </a:t>
            </a:r>
            <a:br>
              <a:rPr lang="en-US" sz="5000" b="1" dirty="0">
                <a:solidFill>
                  <a:schemeClr val="bg1"/>
                </a:solidFill>
              </a:rPr>
            </a:br>
            <a:r>
              <a:rPr lang="en-US" sz="5000" b="1" dirty="0">
                <a:solidFill>
                  <a:schemeClr val="bg1"/>
                </a:solidFill>
              </a:rPr>
              <a:t>Change Fields Properties</a:t>
            </a:r>
            <a:endParaRPr lang="en-US" sz="5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00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B9D7E7B-21A7-6E5A-4A4B-A52BE63D99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639" y="1799245"/>
          <a:ext cx="10723718" cy="4333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390" imgH="2401664" progId="Word.Document.12">
                  <p:embed/>
                </p:oleObj>
              </mc:Choice>
              <mc:Fallback>
                <p:oleObj name="Document" r:id="rId3" imgW="5943390" imgH="2401664" progId="Word.Documen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B9D7E7B-21A7-6E5A-4A4B-A52BE63D99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0639" y="1799245"/>
                        <a:ext cx="10723718" cy="43335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4339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4A5CA0-97AC-596B-E39A-2BFC22EBAE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89" y="1229172"/>
            <a:ext cx="3419156" cy="31289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ACB9C7-6E57-7F5A-2CF3-1EA1DD6A8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179" y="1229171"/>
            <a:ext cx="3338009" cy="302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295F1A-9D7D-62B3-20DC-4E5EB3E03A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451" y="4804859"/>
            <a:ext cx="5700529" cy="565000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CF3F4442-4AD5-E52D-5638-EA9B5C96FD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7377" y="1951189"/>
            <a:ext cx="932740" cy="104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0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22DE1-34E6-D08D-168F-11491D8779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43275"/>
            <a:ext cx="3798365" cy="496350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457A1A-8A71-3112-E946-DCC27D0D4D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47" y="1308445"/>
            <a:ext cx="2603829" cy="469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726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8884159-739E-C156-FEEB-D5A765D13C6E}"/>
              </a:ext>
            </a:extLst>
          </p:cNvPr>
          <p:cNvSpPr/>
          <p:nvPr/>
        </p:nvSpPr>
        <p:spPr>
          <a:xfrm>
            <a:off x="811724" y="370641"/>
            <a:ext cx="1980115" cy="67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Lab 2E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DB2BCE-C953-AE70-DF0A-5E62C5A622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630" y="2173605"/>
            <a:ext cx="7848327" cy="325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9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97FAC-FA27-6154-F630-7A27A9D02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PNGs for Free Download">
            <a:extLst>
              <a:ext uri="{FF2B5EF4-FFF2-40B4-BE49-F238E27FC236}">
                <a16:creationId xmlns:a16="http://schemas.microsoft.com/office/drawing/2014/main" id="{D86052A5-E49F-683D-11A4-EE05211A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95438"/>
            <a:ext cx="7620000" cy="3667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77681D0-AC47-9F1C-86EB-00B477AA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3" y="150495"/>
            <a:ext cx="4541914" cy="1310754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1EB5D2BA-1C9F-2E32-0DFA-57489C3BCA4B}"/>
              </a:ext>
            </a:extLst>
          </p:cNvPr>
          <p:cNvSpPr txBox="1">
            <a:spLocks/>
          </p:cNvSpPr>
          <p:nvPr/>
        </p:nvSpPr>
        <p:spPr>
          <a:xfrm>
            <a:off x="437085" y="6313683"/>
            <a:ext cx="4544490" cy="9019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Said Fawzy</a:t>
            </a:r>
          </a:p>
        </p:txBody>
      </p:sp>
    </p:spTree>
    <p:extLst>
      <p:ext uri="{BB962C8B-B14F-4D97-AF65-F5344CB8AC3E}">
        <p14:creationId xmlns:p14="http://schemas.microsoft.com/office/powerpoint/2010/main" val="269412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162</Words>
  <Application>Microsoft Office PowerPoint</Application>
  <PresentationFormat>Widescreen</PresentationFormat>
  <Paragraphs>52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Aptos</vt:lpstr>
      <vt:lpstr>Aptos Display</vt:lpstr>
      <vt:lpstr>Arial</vt:lpstr>
      <vt:lpstr>Arial Black</vt:lpstr>
      <vt:lpstr>Calibri</vt:lpstr>
      <vt:lpstr>Calibri Light</vt:lpstr>
      <vt:lpstr>Montserrat Bold</vt:lpstr>
      <vt:lpstr>Open Sans</vt:lpstr>
      <vt:lpstr>Office Theme</vt:lpstr>
      <vt:lpstr>2_Office Theme</vt:lpstr>
      <vt:lpstr>3_Office Theme</vt:lpstr>
      <vt:lpstr>Document</vt:lpstr>
      <vt:lpstr>PowerPoint Presentation</vt:lpstr>
      <vt:lpstr>PowerPoint Presentation</vt:lpstr>
      <vt:lpstr>PowerPoint Presentation</vt:lpstr>
      <vt:lpstr>Lab 2A:  Creating Table in Datasheet view</vt:lpstr>
      <vt:lpstr>PowerPoint Presentation</vt:lpstr>
      <vt:lpstr>PowerPoint Presentation</vt:lpstr>
      <vt:lpstr>PowerPoint Presentation</vt:lpstr>
      <vt:lpstr>Lab 2B:  Creating a table  Using Design view</vt:lpstr>
      <vt:lpstr>PowerPoint Presentation</vt:lpstr>
      <vt:lpstr>PowerPoint Presentation</vt:lpstr>
      <vt:lpstr>Access Data Types</vt:lpstr>
      <vt:lpstr>Access Data Types</vt:lpstr>
      <vt:lpstr>Access Data Types</vt:lpstr>
      <vt:lpstr>Lab 2C:  Creating Table  from Table Template</vt:lpstr>
      <vt:lpstr>PowerPoint Presentation</vt:lpstr>
      <vt:lpstr>Table Datasheet view</vt:lpstr>
      <vt:lpstr>Lab 2D:  Working with  table datasheet view</vt:lpstr>
      <vt:lpstr>PowerPoint Presentation</vt:lpstr>
      <vt:lpstr>PowerPoint Presentation</vt:lpstr>
      <vt:lpstr>PowerPoint Presentation</vt:lpstr>
      <vt:lpstr>Lab 2E:  Change Fields Properties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Said Fawzy</dc:creator>
  <cp:lastModifiedBy>Said Fawzy</cp:lastModifiedBy>
  <cp:revision>15</cp:revision>
  <dcterms:created xsi:type="dcterms:W3CDTF">2025-11-09T07:43:58Z</dcterms:created>
  <dcterms:modified xsi:type="dcterms:W3CDTF">2025-11-10T06:44:18Z</dcterms:modified>
</cp:coreProperties>
</file>