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814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A196A-1A67-A599-265B-473E3CE0FA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2B198B-95F4-F841-3AFC-FFBD9E04A8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645EA-9893-DAA3-38B7-5840CD4C5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82087-8C66-40D7-887E-E23FAA5C0DD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57857-B47E-FC33-F31F-A5F171E2C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AA466-EF3A-9B68-3911-4482D24DB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83D0D-E18C-4CAC-87C3-5960C4DD7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418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73B9E-979A-AC9F-06C2-7F682783F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247E2-CB58-FD98-F56C-0FB4CB483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9E2D2-ECF3-0DE5-F7A3-489D46379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82087-8C66-40D7-887E-E23FAA5C0DD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D1847-30B2-9A9E-D0F8-1C53F8A56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0B5DD-C171-5E6F-72B0-B8BFD6621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83D0D-E18C-4CAC-87C3-5960C4DD7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978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DEA84-03DB-1624-ED8F-1F06F0E72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B9979-ED93-6F8C-8118-FF953F4BF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EEB8F-9E37-6FA7-0F2A-485AF8948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82087-8C66-40D7-887E-E23FAA5C0DD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F2925-2548-FD70-0390-DF13F38CB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0D543-6AD9-7453-D119-2BDF8FD23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83D0D-E18C-4CAC-87C3-5960C4DD7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306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BD795-A297-5C39-6F1E-C9B9C2CC5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E85B6-B63A-8F19-BEFB-7D6D134108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705824-A338-9824-078C-F4E9C8C212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C07808-1A93-569B-2255-8CB943C92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82087-8C66-40D7-887E-E23FAA5C0DD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422198-625E-ADFF-E4C3-8E48D80B6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26944D-9746-6315-531F-CC9026B84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83D0D-E18C-4CAC-87C3-5960C4DD7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681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63073-BC10-6A4D-AC0D-C36989099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2C96AC-3D2A-8F91-1A7E-472EDCB3C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E5FC9D-627A-0FB5-2370-6EE319478B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927134-E968-B711-49BB-159F9D7D93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7960D8-F905-7725-5309-521CE6CC21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EE2260-E923-E770-978C-101FE1715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82087-8C66-40D7-887E-E23FAA5C0DD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6A0245-7326-48F1-D32D-26FA875F6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09C59D-0E6B-43A5-91B7-D2502104B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83D0D-E18C-4CAC-87C3-5960C4DD7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020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17FDF-9FC1-3450-F2E0-8D00C417B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B66C11-1E88-3819-8F54-452550F8F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82087-8C66-40D7-887E-E23FAA5C0DD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B5D1FE-0DCA-4512-46F8-327B2BFE9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ED2F04-D8F0-E403-45CC-34F5E93C2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83D0D-E18C-4CAC-87C3-5960C4DD7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175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823091-81EB-B60B-7FA0-827C92608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82087-8C66-40D7-887E-E23FAA5C0DD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92DFF3-B921-D8AA-9607-D46E1D833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007D9C-0F3B-DCD4-F13A-8D172F492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83D0D-E18C-4CAC-87C3-5960C4DD7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869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C2080-15B1-7AB6-D3BE-EDE42EB1B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B2867-BFAD-D455-4F99-6FA0765D0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D5A56E-D560-1F3E-46A2-FB95949DDD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B1512A-1D08-3123-0B21-17F0B614E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82087-8C66-40D7-887E-E23FAA5C0DD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26D3F6-F1C5-BC5E-6631-1E079A132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2A7F76-7411-D593-6FA8-B330590EC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83D0D-E18C-4CAC-87C3-5960C4DD7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805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8BB8E-4DAB-CB5A-D9FE-648199933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5832A6-A89B-8AC2-C90E-017FD8726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17CBCA-CA89-E6D0-985F-91735D17D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366CD6-D2E6-284F-6035-D6EC4F8AC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82087-8C66-40D7-887E-E23FAA5C0DD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C53305-46C9-9605-3875-903283656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E0637C-79EA-CF73-3609-159DE68BF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83D0D-E18C-4CAC-87C3-5960C4DD7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942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728B3-AC4F-D94D-EE31-3693A7E76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7EA52A-AC14-D331-7A7E-A37589D16E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3308A-0F56-5360-EF10-EB37387BB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82087-8C66-40D7-887E-E23FAA5C0DD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80361-E14E-173C-C5D9-E41057A25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47201-BDA8-43B3-1E69-645DF5D82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83D0D-E18C-4CAC-87C3-5960C4DD7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087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12934F-7E13-48DD-09FE-7C4835C0AA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E00C87-2C71-1132-ABD5-BBB2279040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74E90-1BCD-5952-6E20-05A3B3840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82087-8C66-40D7-887E-E23FAA5C0DD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DD8B4-E2EF-E592-0441-D551FB4A6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6FC53-2617-1B5C-F237-D0B37C71D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383D0D-E18C-4CAC-87C3-5960C4DD7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038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5D8A4E-7BAA-FCDE-3D80-1576E5DD7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3EFCBF-E272-E8E7-2A00-519914F90F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708C5-31B5-2AD8-FBC1-BF28ED7057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582087-8C66-40D7-887E-E23FAA5C0DD3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0A656-9D4E-E9AC-4855-CE40A02AC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0261E-5A46-F005-6D91-3807613A99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383D0D-E18C-4CAC-87C3-5960C4DD76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822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588F4-FCA0-9080-2EC7-87C224570E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Convert Logical Model to Table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458F6D-76F7-1F46-6BD7-88F74DEA44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7369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77F068C-5FE3-CE5F-A9C3-96E2F6E5BB6E}"/>
              </a:ext>
            </a:extLst>
          </p:cNvPr>
          <p:cNvSpPr txBox="1"/>
          <p:nvPr/>
        </p:nvSpPr>
        <p:spPr>
          <a:xfrm>
            <a:off x="1078992" y="1269659"/>
            <a:ext cx="930859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Once your </a:t>
            </a:r>
            <a:r>
              <a:rPr lang="en-US" sz="2400" b="1" dirty="0"/>
              <a:t>logical model</a:t>
            </a:r>
            <a:r>
              <a:rPr lang="en-US" sz="2400" dirty="0"/>
              <a:t> is ready (with entities, attributes, and relationships), the next step is to </a:t>
            </a:r>
            <a:r>
              <a:rPr lang="en-US" sz="2400" b="1" dirty="0"/>
              <a:t>create physical tables</a:t>
            </a:r>
            <a:r>
              <a:rPr lang="en-US" sz="2400" dirty="0"/>
              <a:t> in Microsoft Access (or any DBMS).</a:t>
            </a:r>
            <a:br>
              <a:rPr lang="en-US" sz="2400" dirty="0"/>
            </a:br>
            <a:r>
              <a:rPr lang="en-US" sz="2400" dirty="0"/>
              <a:t>This involves defining: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400" b="1" dirty="0"/>
              <a:t>Table Name</a:t>
            </a:r>
            <a:r>
              <a:rPr lang="en-US" sz="2400" dirty="0"/>
              <a:t> (based on the entity)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400" b="1" dirty="0"/>
              <a:t>Fields (Columns)</a:t>
            </a:r>
            <a:endParaRPr lang="en-US" sz="2400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400" b="1" dirty="0"/>
              <a:t>Data Types</a:t>
            </a:r>
            <a:endParaRPr lang="en-US" sz="2400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400" b="1" dirty="0"/>
              <a:t>Constraints</a:t>
            </a:r>
            <a:r>
              <a:rPr lang="en-US" sz="2400" dirty="0"/>
              <a:t> (such as Primary Key, Required, or Foreign Key)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23DDD9-F021-0C81-F906-6B5268C3AA9E}"/>
              </a:ext>
            </a:extLst>
          </p:cNvPr>
          <p:cNvSpPr/>
          <p:nvPr/>
        </p:nvSpPr>
        <p:spPr>
          <a:xfrm>
            <a:off x="73152" y="0"/>
            <a:ext cx="12118848" cy="749808"/>
          </a:xfrm>
          <a:prstGeom prst="rect">
            <a:avLst/>
          </a:prstGeom>
          <a:solidFill>
            <a:srgbClr val="8814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3600" b="1"/>
              <a:t>Concept Overview</a:t>
            </a:r>
            <a:endParaRPr lang="en-US" sz="36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FDFE59-4D4A-65A3-5554-BD6EC5623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8944" y="4958309"/>
            <a:ext cx="2267902" cy="1701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6676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51CE0C-4C44-13D1-F065-DC66350A40C7}"/>
              </a:ext>
            </a:extLst>
          </p:cNvPr>
          <p:cNvSpPr/>
          <p:nvPr/>
        </p:nvSpPr>
        <p:spPr>
          <a:xfrm>
            <a:off x="0" y="0"/>
            <a:ext cx="12118848" cy="749808"/>
          </a:xfrm>
          <a:prstGeom prst="rect">
            <a:avLst/>
          </a:prstGeom>
          <a:solidFill>
            <a:srgbClr val="8814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3600" b="1" dirty="0"/>
              <a:t>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F0CC64-6F17-1FDA-FB24-9EB7FDDA7509}"/>
              </a:ext>
            </a:extLst>
          </p:cNvPr>
          <p:cNvSpPr txBox="1"/>
          <p:nvPr/>
        </p:nvSpPr>
        <p:spPr>
          <a:xfrm>
            <a:off x="2910078" y="1425553"/>
            <a:ext cx="618591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Let’s say your Logical Model has these three entities:</a:t>
            </a:r>
          </a:p>
          <a:p>
            <a:r>
              <a:rPr lang="en-US" dirty="0"/>
              <a:t>•</a:t>
            </a:r>
            <a:r>
              <a:rPr lang="en-US" b="1" dirty="0"/>
              <a:t>Student</a:t>
            </a:r>
          </a:p>
          <a:p>
            <a:pPr lvl="3"/>
            <a:r>
              <a:rPr lang="en-US" dirty="0"/>
              <a:t>o	</a:t>
            </a:r>
            <a:r>
              <a:rPr lang="en-US" dirty="0" err="1"/>
              <a:t>StudentID</a:t>
            </a:r>
            <a:r>
              <a:rPr lang="en-US" dirty="0"/>
              <a:t> (PK)</a:t>
            </a:r>
          </a:p>
          <a:p>
            <a:pPr lvl="3"/>
            <a:r>
              <a:rPr lang="en-US" dirty="0"/>
              <a:t>o	</a:t>
            </a:r>
            <a:r>
              <a:rPr lang="en-US" dirty="0" err="1"/>
              <a:t>StudentName</a:t>
            </a:r>
            <a:endParaRPr lang="en-US" dirty="0"/>
          </a:p>
          <a:p>
            <a:pPr lvl="3"/>
            <a:r>
              <a:rPr lang="en-US" dirty="0"/>
              <a:t>o	</a:t>
            </a:r>
            <a:r>
              <a:rPr lang="en-US" dirty="0" err="1"/>
              <a:t>DateOfBirth</a:t>
            </a:r>
            <a:endParaRPr lang="en-US" dirty="0"/>
          </a:p>
          <a:p>
            <a:pPr lvl="3"/>
            <a:r>
              <a:rPr lang="en-US" dirty="0"/>
              <a:t>o	Email</a:t>
            </a:r>
          </a:p>
          <a:p>
            <a:r>
              <a:rPr lang="en-US" dirty="0"/>
              <a:t>•</a:t>
            </a:r>
            <a:r>
              <a:rPr lang="en-US" b="1" dirty="0"/>
              <a:t>Course</a:t>
            </a:r>
          </a:p>
          <a:p>
            <a:pPr lvl="3"/>
            <a:r>
              <a:rPr lang="en-US" dirty="0"/>
              <a:t>o	</a:t>
            </a:r>
            <a:r>
              <a:rPr lang="en-US" dirty="0" err="1"/>
              <a:t>CourseID</a:t>
            </a:r>
            <a:r>
              <a:rPr lang="en-US" dirty="0"/>
              <a:t> (PK)</a:t>
            </a:r>
          </a:p>
          <a:p>
            <a:pPr lvl="3"/>
            <a:r>
              <a:rPr lang="en-US" dirty="0"/>
              <a:t>o	</a:t>
            </a:r>
            <a:r>
              <a:rPr lang="en-US" dirty="0" err="1"/>
              <a:t>CourseName</a:t>
            </a:r>
            <a:endParaRPr lang="en-US" dirty="0"/>
          </a:p>
          <a:p>
            <a:pPr lvl="3"/>
            <a:r>
              <a:rPr lang="en-US" dirty="0"/>
              <a:t>o	Credits</a:t>
            </a:r>
          </a:p>
          <a:p>
            <a:r>
              <a:rPr lang="en-US" dirty="0"/>
              <a:t>•</a:t>
            </a:r>
            <a:r>
              <a:rPr lang="en-US" b="1" dirty="0"/>
              <a:t>Enrollment</a:t>
            </a:r>
          </a:p>
          <a:p>
            <a:pPr lvl="3"/>
            <a:r>
              <a:rPr lang="en-US" dirty="0"/>
              <a:t>o	</a:t>
            </a:r>
            <a:r>
              <a:rPr lang="en-US" dirty="0" err="1"/>
              <a:t>EnrollmentID</a:t>
            </a:r>
            <a:r>
              <a:rPr lang="en-US" dirty="0"/>
              <a:t> (PK)</a:t>
            </a:r>
          </a:p>
          <a:p>
            <a:pPr lvl="3"/>
            <a:r>
              <a:rPr lang="en-US" dirty="0"/>
              <a:t>o	</a:t>
            </a:r>
            <a:r>
              <a:rPr lang="en-US" dirty="0" err="1"/>
              <a:t>StudentID</a:t>
            </a:r>
            <a:r>
              <a:rPr lang="en-US" dirty="0"/>
              <a:t> (FK)</a:t>
            </a:r>
          </a:p>
          <a:p>
            <a:pPr lvl="3"/>
            <a:r>
              <a:rPr lang="en-US" dirty="0"/>
              <a:t>o	</a:t>
            </a:r>
            <a:r>
              <a:rPr lang="en-US" dirty="0" err="1"/>
              <a:t>CourseID</a:t>
            </a:r>
            <a:r>
              <a:rPr lang="en-US" dirty="0"/>
              <a:t> (FK)</a:t>
            </a:r>
            <a:endParaRPr lang="ar-EG" dirty="0"/>
          </a:p>
          <a:p>
            <a:pPr lvl="3"/>
            <a:r>
              <a:rPr lang="en-US" dirty="0"/>
              <a:t>o </a:t>
            </a:r>
            <a:r>
              <a:rPr lang="ar-EG" dirty="0"/>
              <a:t>    </a:t>
            </a:r>
            <a:r>
              <a:rPr lang="en-US" dirty="0" err="1"/>
              <a:t>EnrollmentDate</a:t>
            </a:r>
            <a:endParaRPr lang="en-US" dirty="0"/>
          </a:p>
          <a:p>
            <a:pPr lvl="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5003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311AC9-9759-0DEA-4140-A71B10000548}"/>
              </a:ext>
            </a:extLst>
          </p:cNvPr>
          <p:cNvSpPr/>
          <p:nvPr/>
        </p:nvSpPr>
        <p:spPr>
          <a:xfrm>
            <a:off x="0" y="0"/>
            <a:ext cx="12118848" cy="749808"/>
          </a:xfrm>
          <a:prstGeom prst="rect">
            <a:avLst/>
          </a:prstGeom>
          <a:solidFill>
            <a:srgbClr val="8814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3600" b="1" dirty="0"/>
              <a:t>Step 1: Convert Entities to Tables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457B331F-05FE-0587-21FA-6700CD6AD1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0008659"/>
              </p:ext>
            </p:extLst>
          </p:nvPr>
        </p:nvGraphicFramePr>
        <p:xfrm>
          <a:off x="2154935" y="1903254"/>
          <a:ext cx="11200771" cy="30514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3390" imgH="1618889" progId="Word.Document.12">
                  <p:embed/>
                </p:oleObj>
              </mc:Choice>
              <mc:Fallback>
                <p:oleObj name="Document" r:id="rId2" imgW="5943390" imgH="161888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54935" y="1903254"/>
                        <a:ext cx="11200771" cy="30514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728695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F40DF-4EC0-A9DB-DBA7-2EA29A7FF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19F1A3-C8AD-D6C2-8CCD-770D8AF8A139}"/>
              </a:ext>
            </a:extLst>
          </p:cNvPr>
          <p:cNvSpPr/>
          <p:nvPr/>
        </p:nvSpPr>
        <p:spPr>
          <a:xfrm>
            <a:off x="0" y="0"/>
            <a:ext cx="12118848" cy="749808"/>
          </a:xfrm>
          <a:prstGeom prst="rect">
            <a:avLst/>
          </a:prstGeom>
          <a:solidFill>
            <a:srgbClr val="8814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3600" b="1" dirty="0"/>
              <a:t>Step 2: Convert Attributes to Fields with Data Types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993C512-AA19-EB58-1E3F-9C2C44B3C2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8160936"/>
              </p:ext>
            </p:extLst>
          </p:nvPr>
        </p:nvGraphicFramePr>
        <p:xfrm>
          <a:off x="902208" y="1408554"/>
          <a:ext cx="9265920" cy="3760476"/>
        </p:xfrm>
        <a:graphic>
          <a:graphicData uri="http://schemas.openxmlformats.org/drawingml/2006/table">
            <a:tbl>
              <a:tblPr firstRow="1" firstCol="1" bandRow="1">
                <a:tableStyleId>{0660B408-B3CF-4A94-85FC-2B1E0A45F4A2}</a:tableStyleId>
              </a:tblPr>
              <a:tblGrid>
                <a:gridCol w="1667256">
                  <a:extLst>
                    <a:ext uri="{9D8B030D-6E8A-4147-A177-3AD203B41FA5}">
                      <a16:colId xmlns:a16="http://schemas.microsoft.com/office/drawing/2014/main" val="2985294318"/>
                    </a:ext>
                  </a:extLst>
                </a:gridCol>
                <a:gridCol w="1648310">
                  <a:extLst>
                    <a:ext uri="{9D8B030D-6E8A-4147-A177-3AD203B41FA5}">
                      <a16:colId xmlns:a16="http://schemas.microsoft.com/office/drawing/2014/main" val="1366585713"/>
                    </a:ext>
                  </a:extLst>
                </a:gridCol>
                <a:gridCol w="2649508">
                  <a:extLst>
                    <a:ext uri="{9D8B030D-6E8A-4147-A177-3AD203B41FA5}">
                      <a16:colId xmlns:a16="http://schemas.microsoft.com/office/drawing/2014/main" val="862073866"/>
                    </a:ext>
                  </a:extLst>
                </a:gridCol>
                <a:gridCol w="3300846">
                  <a:extLst>
                    <a:ext uri="{9D8B030D-6E8A-4147-A177-3AD203B41FA5}">
                      <a16:colId xmlns:a16="http://schemas.microsoft.com/office/drawing/2014/main" val="794844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effectLst/>
                        </a:rPr>
                        <a:t>Table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effectLst/>
                        </a:rPr>
                        <a:t>Field Name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effectLst/>
                        </a:rPr>
                        <a:t>Data Type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effectLst/>
                        </a:rPr>
                        <a:t>Constraint / Description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88566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effectLst/>
                        </a:rPr>
                        <a:t>tblStudents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StudentID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AutoNumber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effectLst/>
                        </a:rPr>
                        <a:t>Primary Key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13327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StudentName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Short Text (100)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Required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08347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DateOfBirth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Date/Time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—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37871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Email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Short Text (150)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Unique (if required)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466774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effectLst/>
                        </a:rPr>
                        <a:t>tblCourses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CourseID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AutoNumber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effectLst/>
                        </a:rPr>
                        <a:t>Primary Key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15767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CourseName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Short Text (100)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Required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69812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Credits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Number (Integer)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—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43046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effectLst/>
                        </a:rPr>
                        <a:t>tblEnrollments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EnrollmentID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AutoNumber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effectLst/>
                        </a:rPr>
                        <a:t>Primary Key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63167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StudentID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Number (Long Integer)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effectLst/>
                        </a:rPr>
                        <a:t>Foreign Key → tblStudents.StudentID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7338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CourseID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Number (Long Integer)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effectLst/>
                        </a:rPr>
                        <a:t>Foreign Key → tblCourses.CourseID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18615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EnrollmentDate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Date/Time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Default = Now()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48723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75722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AED7D-8369-D9C5-CD93-80825DBFF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BE3E7E-BF30-EB54-1183-617627A56A9A}"/>
              </a:ext>
            </a:extLst>
          </p:cNvPr>
          <p:cNvSpPr/>
          <p:nvPr/>
        </p:nvSpPr>
        <p:spPr>
          <a:xfrm>
            <a:off x="0" y="0"/>
            <a:ext cx="12118848" cy="749808"/>
          </a:xfrm>
          <a:prstGeom prst="rect">
            <a:avLst/>
          </a:prstGeom>
          <a:solidFill>
            <a:srgbClr val="8814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Step 3: Define Relationships</a:t>
            </a:r>
            <a:endParaRPr lang="en-US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8AD413A-7918-32DD-AE7A-B1CEF1BE6E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8667711"/>
              </p:ext>
            </p:extLst>
          </p:nvPr>
        </p:nvGraphicFramePr>
        <p:xfrm>
          <a:off x="822724" y="2979133"/>
          <a:ext cx="10473400" cy="899733"/>
        </p:xfrm>
        <a:graphic>
          <a:graphicData uri="http://schemas.openxmlformats.org/drawingml/2006/table">
            <a:tbl>
              <a:tblPr firstRow="1" firstCol="1" bandRow="1">
                <a:tableStyleId>{9DCAF9ED-07DC-4A11-8D7F-57B35C25682E}</a:tableStyleId>
              </a:tblPr>
              <a:tblGrid>
                <a:gridCol w="4023911">
                  <a:extLst>
                    <a:ext uri="{9D8B030D-6E8A-4147-A177-3AD203B41FA5}">
                      <a16:colId xmlns:a16="http://schemas.microsoft.com/office/drawing/2014/main" val="342383752"/>
                    </a:ext>
                  </a:extLst>
                </a:gridCol>
                <a:gridCol w="1762811">
                  <a:extLst>
                    <a:ext uri="{9D8B030D-6E8A-4147-A177-3AD203B41FA5}">
                      <a16:colId xmlns:a16="http://schemas.microsoft.com/office/drawing/2014/main" val="325648542"/>
                    </a:ext>
                  </a:extLst>
                </a:gridCol>
                <a:gridCol w="4686678">
                  <a:extLst>
                    <a:ext uri="{9D8B030D-6E8A-4147-A177-3AD203B41FA5}">
                      <a16:colId xmlns:a16="http://schemas.microsoft.com/office/drawing/2014/main" val="27310740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>
                          <a:effectLst/>
                        </a:rPr>
                        <a:t>Relationship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>
                          <a:effectLst/>
                        </a:rPr>
                        <a:t>Type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>
                          <a:effectLst/>
                        </a:rPr>
                        <a:t>Description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803384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tblStudents → tblEnrollments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One-to-Many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One student can enroll in many courses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55011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tblCourses → tblEnrollments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One-to-Many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One course can have many enrolled students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038948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84119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E434D-F93F-5F7F-F057-E1FD584E7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7FDC4A-1CD9-4739-C710-3713756BD970}"/>
              </a:ext>
            </a:extLst>
          </p:cNvPr>
          <p:cNvSpPr/>
          <p:nvPr/>
        </p:nvSpPr>
        <p:spPr>
          <a:xfrm>
            <a:off x="0" y="0"/>
            <a:ext cx="12118848" cy="749808"/>
          </a:xfrm>
          <a:prstGeom prst="rect">
            <a:avLst/>
          </a:prstGeom>
          <a:solidFill>
            <a:srgbClr val="8814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Step 4: Create in Microsoft Access</a:t>
            </a:r>
            <a:endParaRPr lang="en-US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72ACCC-46AE-D704-A251-DE830A1EF686}"/>
              </a:ext>
            </a:extLst>
          </p:cNvPr>
          <p:cNvSpPr txBox="1"/>
          <p:nvPr/>
        </p:nvSpPr>
        <p:spPr>
          <a:xfrm>
            <a:off x="1863471" y="1657838"/>
            <a:ext cx="8391906" cy="2711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Open Access and create a </a:t>
            </a:r>
            <a:r>
              <a:rPr lang="en-U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Blank Database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Create each table with its fields, data types, and constraints.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Open the </a:t>
            </a:r>
            <a:r>
              <a:rPr lang="en-U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Relationships window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and connect: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tblStudents.StudentID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→ </a:t>
            </a:r>
            <a:r>
              <a:rPr lang="en-US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tblEnrollments.StudentID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tblCourses.CourseID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→ </a:t>
            </a:r>
            <a:r>
              <a:rPr lang="en-US" sz="20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tblEnrollments.CourseID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Enforce </a:t>
            </a:r>
            <a:r>
              <a:rPr lang="en-US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Referential Integrity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to maintain data consistency.</a:t>
            </a:r>
          </a:p>
        </p:txBody>
      </p:sp>
    </p:spTree>
    <p:extLst>
      <p:ext uri="{BB962C8B-B14F-4D97-AF65-F5344CB8AC3E}">
        <p14:creationId xmlns:p14="http://schemas.microsoft.com/office/powerpoint/2010/main" val="19837865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329</Words>
  <Application>Microsoft Office PowerPoint</Application>
  <PresentationFormat>Widescreen</PresentationFormat>
  <Paragraphs>82</Paragraphs>
  <Slides>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Courier New</vt:lpstr>
      <vt:lpstr>Office Theme</vt:lpstr>
      <vt:lpstr>Microsoft Word Document</vt:lpstr>
      <vt:lpstr>Convert Logical Model to Table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Said Fawzy</dc:creator>
  <cp:lastModifiedBy>Said Fawzy</cp:lastModifiedBy>
  <cp:revision>3</cp:revision>
  <dcterms:created xsi:type="dcterms:W3CDTF">2025-11-13T05:41:40Z</dcterms:created>
  <dcterms:modified xsi:type="dcterms:W3CDTF">2025-11-13T06:09:31Z</dcterms:modified>
</cp:coreProperties>
</file>