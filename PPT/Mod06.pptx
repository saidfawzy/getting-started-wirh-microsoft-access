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399" r:id="rId6"/>
    <p:sldId id="414" r:id="rId7"/>
    <p:sldId id="401" r:id="rId8"/>
    <p:sldId id="432" r:id="rId9"/>
    <p:sldId id="474" r:id="rId10"/>
    <p:sldId id="475" r:id="rId11"/>
    <p:sldId id="416" r:id="rId12"/>
    <p:sldId id="415" r:id="rId13"/>
    <p:sldId id="476" r:id="rId14"/>
    <p:sldId id="477" r:id="rId15"/>
    <p:sldId id="478" r:id="rId16"/>
    <p:sldId id="479" r:id="rId17"/>
    <p:sldId id="480" r:id="rId18"/>
    <p:sldId id="481" r:id="rId19"/>
    <p:sldId id="412" r:id="rId20"/>
    <p:sldId id="4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41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89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7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59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60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389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93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40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006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808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276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68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103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94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6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80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072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302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854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3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1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3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0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1115360" y="3137306"/>
            <a:ext cx="78739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Tables Relationship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80E0B0-2069-4CBE-93AD-77AEA890AE2A}"/>
              </a:ext>
            </a:extLst>
          </p:cNvPr>
          <p:cNvSpPr/>
          <p:nvPr/>
        </p:nvSpPr>
        <p:spPr>
          <a:xfrm>
            <a:off x="7251" y="-493486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93AC6-FE87-4FA9-BBD4-F140C94A9C2A}"/>
              </a:ext>
            </a:extLst>
          </p:cNvPr>
          <p:cNvGrpSpPr/>
          <p:nvPr/>
        </p:nvGrpSpPr>
        <p:grpSpPr>
          <a:xfrm>
            <a:off x="1437351" y="1240021"/>
            <a:ext cx="3600000" cy="635091"/>
            <a:chOff x="1437351" y="1240021"/>
            <a:chExt cx="3600000" cy="6350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A175DB-5D33-43C8-AAE4-B1E831D1A234}"/>
                </a:ext>
              </a:extLst>
            </p:cNvPr>
            <p:cNvSpPr/>
            <p:nvPr/>
          </p:nvSpPr>
          <p:spPr>
            <a:xfrm flipV="1">
              <a:off x="1437351" y="124002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ECA3F-8570-4FB5-931A-BBA5339DECE3}"/>
                </a:ext>
              </a:extLst>
            </p:cNvPr>
            <p:cNvSpPr txBox="1"/>
            <p:nvPr/>
          </p:nvSpPr>
          <p:spPr>
            <a:xfrm>
              <a:off x="1615267" y="1543089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Primary Key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A620AF-3788-4F4E-848F-1363C314793B}"/>
              </a:ext>
            </a:extLst>
          </p:cNvPr>
          <p:cNvSpPr txBox="1"/>
          <p:nvPr/>
        </p:nvSpPr>
        <p:spPr>
          <a:xfrm>
            <a:off x="1337029" y="92256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EF2E9-14F9-4365-BFB5-3C0CF7A052E9}"/>
              </a:ext>
            </a:extLst>
          </p:cNvPr>
          <p:cNvGrpSpPr/>
          <p:nvPr/>
        </p:nvGrpSpPr>
        <p:grpSpPr>
          <a:xfrm>
            <a:off x="1437351" y="2358630"/>
            <a:ext cx="4007481" cy="635091"/>
            <a:chOff x="1437351" y="2358630"/>
            <a:chExt cx="4007481" cy="63509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4AB1F3-023E-48AE-989E-4EA1B96825EF}"/>
                </a:ext>
              </a:extLst>
            </p:cNvPr>
            <p:cNvSpPr/>
            <p:nvPr/>
          </p:nvSpPr>
          <p:spPr>
            <a:xfrm flipV="1">
              <a:off x="1437351" y="2358630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70A834-DA13-468F-A794-3687E8A14304}"/>
                </a:ext>
              </a:extLst>
            </p:cNvPr>
            <p:cNvSpPr txBox="1"/>
            <p:nvPr/>
          </p:nvSpPr>
          <p:spPr>
            <a:xfrm>
              <a:off x="1518281" y="2671223"/>
              <a:ext cx="39265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Setting Primary and Secondary Keys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01748C-1478-4628-8CDE-6C69DF1916E8}"/>
              </a:ext>
            </a:extLst>
          </p:cNvPr>
          <p:cNvSpPr txBox="1"/>
          <p:nvPr/>
        </p:nvSpPr>
        <p:spPr>
          <a:xfrm>
            <a:off x="1337029" y="204117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664870-6B63-42D0-8F14-11DB5DD34C01}"/>
              </a:ext>
            </a:extLst>
          </p:cNvPr>
          <p:cNvGrpSpPr/>
          <p:nvPr/>
        </p:nvGrpSpPr>
        <p:grpSpPr>
          <a:xfrm>
            <a:off x="1437351" y="3508485"/>
            <a:ext cx="3600000" cy="635091"/>
            <a:chOff x="1437351" y="3508485"/>
            <a:chExt cx="3600000" cy="63509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4F560C-A913-4090-9959-6C383EC2884F}"/>
                </a:ext>
              </a:extLst>
            </p:cNvPr>
            <p:cNvSpPr/>
            <p:nvPr/>
          </p:nvSpPr>
          <p:spPr>
            <a:xfrm flipV="1">
              <a:off x="1437351" y="3508485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C56302-C5A7-4907-ABF1-8DD9AEA874F5}"/>
                </a:ext>
              </a:extLst>
            </p:cNvPr>
            <p:cNvSpPr txBox="1"/>
            <p:nvPr/>
          </p:nvSpPr>
          <p:spPr>
            <a:xfrm>
              <a:off x="1615267" y="3821078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The relationship Window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7C455A-AC74-479B-AE4B-995389E7560F}"/>
              </a:ext>
            </a:extLst>
          </p:cNvPr>
          <p:cNvSpPr txBox="1"/>
          <p:nvPr/>
        </p:nvSpPr>
        <p:spPr>
          <a:xfrm>
            <a:off x="1366405" y="318045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EF9E77-574A-472A-9033-74F762D0FFFE}"/>
              </a:ext>
            </a:extLst>
          </p:cNvPr>
          <p:cNvGrpSpPr/>
          <p:nvPr/>
        </p:nvGrpSpPr>
        <p:grpSpPr>
          <a:xfrm>
            <a:off x="1437351" y="4595186"/>
            <a:ext cx="3938205" cy="635091"/>
            <a:chOff x="1437351" y="4595186"/>
            <a:chExt cx="3938205" cy="63509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5014D-DEA7-40C6-8F42-75D6E870D921}"/>
                </a:ext>
              </a:extLst>
            </p:cNvPr>
            <p:cNvSpPr/>
            <p:nvPr/>
          </p:nvSpPr>
          <p:spPr>
            <a:xfrm flipV="1">
              <a:off x="1437351" y="4595186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00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18858D-92CA-4C6D-B72C-30113CF40202}"/>
                </a:ext>
              </a:extLst>
            </p:cNvPr>
            <p:cNvSpPr txBox="1"/>
            <p:nvPr/>
          </p:nvSpPr>
          <p:spPr>
            <a:xfrm>
              <a:off x="1545991" y="4907779"/>
              <a:ext cx="3829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Define Relationship between Tables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E5BF2B6-2249-4492-AB84-85AC37DCD3F6}"/>
              </a:ext>
            </a:extLst>
          </p:cNvPr>
          <p:cNvSpPr txBox="1"/>
          <p:nvPr/>
        </p:nvSpPr>
        <p:spPr>
          <a:xfrm>
            <a:off x="1337029" y="4277728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43C060D-2E53-4DC4-9135-4496E9961F82}"/>
              </a:ext>
            </a:extLst>
          </p:cNvPr>
          <p:cNvSpPr/>
          <p:nvPr/>
        </p:nvSpPr>
        <p:spPr>
          <a:xfrm>
            <a:off x="6096000" y="-483725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FD3B500-F92F-482C-8E23-81B5FA8685B4}"/>
              </a:ext>
            </a:extLst>
          </p:cNvPr>
          <p:cNvGrpSpPr/>
          <p:nvPr/>
        </p:nvGrpSpPr>
        <p:grpSpPr>
          <a:xfrm>
            <a:off x="7526100" y="1249782"/>
            <a:ext cx="3600000" cy="635091"/>
            <a:chOff x="7526100" y="1249782"/>
            <a:chExt cx="3600000" cy="63509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94A9F0-2E6E-4D6A-8378-2AC66526190C}"/>
                </a:ext>
              </a:extLst>
            </p:cNvPr>
            <p:cNvSpPr/>
            <p:nvPr/>
          </p:nvSpPr>
          <p:spPr>
            <a:xfrm flipV="1">
              <a:off x="7526100" y="1249782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370C1F-83CA-436E-B50A-0F6859EA3ABB}"/>
                </a:ext>
              </a:extLst>
            </p:cNvPr>
            <p:cNvSpPr txBox="1"/>
            <p:nvPr/>
          </p:nvSpPr>
          <p:spPr>
            <a:xfrm>
              <a:off x="7704016" y="1562375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Cascade Options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58DE280-C921-4E8F-A898-82F169A9F75C}"/>
              </a:ext>
            </a:extLst>
          </p:cNvPr>
          <p:cNvSpPr txBox="1"/>
          <p:nvPr/>
        </p:nvSpPr>
        <p:spPr>
          <a:xfrm>
            <a:off x="7425778" y="93232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F92536E-FDBC-4303-94F0-E826BDEA4BA2}"/>
              </a:ext>
            </a:extLst>
          </p:cNvPr>
          <p:cNvGrpSpPr/>
          <p:nvPr/>
        </p:nvGrpSpPr>
        <p:grpSpPr>
          <a:xfrm>
            <a:off x="7526100" y="2368391"/>
            <a:ext cx="3600000" cy="635091"/>
            <a:chOff x="7526100" y="2368391"/>
            <a:chExt cx="3600000" cy="63509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20D763-9758-4BDD-811F-EB7B79E575F9}"/>
                </a:ext>
              </a:extLst>
            </p:cNvPr>
            <p:cNvSpPr/>
            <p:nvPr/>
          </p:nvSpPr>
          <p:spPr>
            <a:xfrm flipV="1">
              <a:off x="7526100" y="236839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CC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F2E9AC-78E0-4B8F-8A45-B82DCB1AFA77}"/>
                </a:ext>
              </a:extLst>
            </p:cNvPr>
            <p:cNvSpPr txBox="1"/>
            <p:nvPr/>
          </p:nvSpPr>
          <p:spPr>
            <a:xfrm>
              <a:off x="7704016" y="2680984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Build Your Project Par 1 (Creating Tables)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32EF17F-EA45-4B2A-81E7-074A0F20CF88}"/>
              </a:ext>
            </a:extLst>
          </p:cNvPr>
          <p:cNvSpPr txBox="1"/>
          <p:nvPr/>
        </p:nvSpPr>
        <p:spPr>
          <a:xfrm>
            <a:off x="7425778" y="205093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E8E3CB-5A1C-0E82-A348-B085413B0B6F}"/>
              </a:ext>
            </a:extLst>
          </p:cNvPr>
          <p:cNvGrpSpPr/>
          <p:nvPr/>
        </p:nvGrpSpPr>
        <p:grpSpPr>
          <a:xfrm>
            <a:off x="8934450" y="218153"/>
            <a:ext cx="3062072" cy="548112"/>
            <a:chOff x="8151095" y="218152"/>
            <a:chExt cx="3845427" cy="6867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C9D4B7-6E07-C223-54C1-F95B9CAB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0D5DD6-1793-3E29-B2B9-F6A49CD06B66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47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5" grpId="0"/>
      <p:bldP spid="19" grpId="0"/>
      <p:bldP spid="23" grpId="0"/>
      <p:bldP spid="25" grpId="0" animBg="1"/>
      <p:bldP spid="28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1B599-F3E8-94B2-5CCB-CE0B13B1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7193"/>
            <a:ext cx="5323715" cy="656119"/>
          </a:xfrm>
        </p:spPr>
        <p:txBody>
          <a:bodyPr anchor="b">
            <a:normAutofit/>
          </a:bodyPr>
          <a:lstStyle/>
          <a:p>
            <a:r>
              <a:rPr lang="en-US" sz="4000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32DF2-4E92-24D3-AA33-EB6CD907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63" y="1610505"/>
            <a:ext cx="7370670" cy="3535083"/>
          </a:xfrm>
        </p:spPr>
        <p:txBody>
          <a:bodyPr anchor="t"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is a key field that contains a unique value in a table.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Used to join the table with other tables.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primary Key cannot be left blank (Mandatory) (is NOT NULL).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Secondary key is a field used to connect to other table but allow duplicate values.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Keys are used to speed up the queries.</a:t>
            </a:r>
          </a:p>
          <a:p>
            <a:endParaRPr lang="en-US" sz="24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Primary Keys &amp; Foreign Keys - DEV Community">
            <a:extLst>
              <a:ext uri="{FF2B5EF4-FFF2-40B4-BE49-F238E27FC236}">
                <a16:creationId xmlns:a16="http://schemas.microsoft.com/office/drawing/2014/main" id="{A6528533-C9FE-C283-6603-D5D22686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8222" y="4283254"/>
            <a:ext cx="4170530" cy="234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92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3A: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Setting Primary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and Secondary Keys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3A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A2CDB31-363C-1AD6-AC6B-B82127A5E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61" y="1373139"/>
            <a:ext cx="4093092" cy="1990142"/>
          </a:xfrm>
          <a:prstGeom prst="rect">
            <a:avLst/>
          </a:prstGeom>
        </p:spPr>
      </p:pic>
      <p:pic>
        <p:nvPicPr>
          <p:cNvPr id="5" name="Picture 4" descr="A white table with black text&#10;&#10;Description automatically generated">
            <a:extLst>
              <a:ext uri="{FF2B5EF4-FFF2-40B4-BE49-F238E27FC236}">
                <a16:creationId xmlns:a16="http://schemas.microsoft.com/office/drawing/2014/main" id="{2A655D64-B8BC-06C7-82AA-4EC986669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489" y="4112823"/>
            <a:ext cx="4892065" cy="141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9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174AB05-E13C-317F-022F-BCCB85B3E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3" y="1148839"/>
            <a:ext cx="2332896" cy="228016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9551705-5D62-47BB-26B7-E6664BB8BE97}"/>
              </a:ext>
            </a:extLst>
          </p:cNvPr>
          <p:cNvGrpSpPr/>
          <p:nvPr/>
        </p:nvGrpSpPr>
        <p:grpSpPr>
          <a:xfrm>
            <a:off x="3105604" y="3155634"/>
            <a:ext cx="8647126" cy="2779002"/>
            <a:chOff x="0" y="0"/>
            <a:chExt cx="5493224" cy="1557655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0CE67DAF-26BB-6B12-30CB-E6C3B513F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" y="0"/>
              <a:ext cx="5486400" cy="155765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CAA2E2-23CD-7853-94F9-C7148FA7054D}"/>
                </a:ext>
              </a:extLst>
            </p:cNvPr>
            <p:cNvSpPr/>
            <p:nvPr/>
          </p:nvSpPr>
          <p:spPr>
            <a:xfrm>
              <a:off x="68227" y="354841"/>
              <a:ext cx="5152030" cy="109182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B7D141-C932-0B7A-3191-0B7A4BEA848E}"/>
                </a:ext>
              </a:extLst>
            </p:cNvPr>
            <p:cNvSpPr/>
            <p:nvPr/>
          </p:nvSpPr>
          <p:spPr>
            <a:xfrm>
              <a:off x="0" y="709684"/>
              <a:ext cx="2067636" cy="136478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674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ED683-1C65-C23B-7535-EF9E52072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839" y="1253695"/>
            <a:ext cx="4852174" cy="435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1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E5FA6-3EC3-B315-0C74-0C1C10CD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relationship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13051-865B-490B-740D-97DFF6649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72" y="1822348"/>
            <a:ext cx="11521622" cy="394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2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875494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3B: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Define Relationship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between Tables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32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9C16D91-A519-D4B2-7DAF-0BE8088E6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525436"/>
            <a:ext cx="6958310" cy="3807128"/>
          </a:xfrm>
          <a:prstGeom prst="rect">
            <a:avLst/>
          </a:prstGeom>
        </p:spPr>
      </p:pic>
      <p:pic>
        <p:nvPicPr>
          <p:cNvPr id="5" name="Picture 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7F80205-5CAA-6213-B8C6-56A607ECCB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657" y="706958"/>
            <a:ext cx="1682189" cy="518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9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437B288-B4B9-2B81-15A5-B1E9F60C58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718" y="1378412"/>
            <a:ext cx="8730682" cy="452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8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90E6D3A-7293-D2C3-9D22-69C537A9B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893" y="1496686"/>
            <a:ext cx="3615433" cy="2909753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C86814C-CC98-585A-0473-A37C545E2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344" y="1458780"/>
            <a:ext cx="3466025" cy="266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4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E73DE1B-BC64-1084-F6D8-AD1ED1748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91" y="1236015"/>
            <a:ext cx="2277387" cy="1091434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DC1EAF1-3138-0DBC-6114-0519CE1B32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758" y="2520189"/>
            <a:ext cx="3893327" cy="315478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0138C15-C9B4-A11D-B15A-A6C30E0C8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23" y="2492513"/>
            <a:ext cx="3893327" cy="339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2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58BA550-1E70-B375-DFD2-9C4586591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60" y="1623500"/>
            <a:ext cx="5317168" cy="1430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82124B-4DE5-BA89-D0C8-EFD4D73F6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33" y="3905262"/>
            <a:ext cx="5500701" cy="19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2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6F1DF-7F78-2A46-F70D-DF4E855FDC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949" y="960254"/>
            <a:ext cx="3048162" cy="4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0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39749-3CBC-A446-03E7-FB040D8C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Cascade Options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EAC4B-C140-9D9A-06FC-F9F53676A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5" y="1655276"/>
            <a:ext cx="11010129" cy="487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7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176</Words>
  <Application>Microsoft Office PowerPoint</Application>
  <PresentationFormat>Widescreen</PresentationFormat>
  <Paragraphs>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Open Sans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Primary Key</vt:lpstr>
      <vt:lpstr>Lab 3A:  Setting Primary  and Secondary Keys</vt:lpstr>
      <vt:lpstr>PowerPoint Presentation</vt:lpstr>
      <vt:lpstr>PowerPoint Presentation</vt:lpstr>
      <vt:lpstr>PowerPoint Presentation</vt:lpstr>
      <vt:lpstr>The relationship Window</vt:lpstr>
      <vt:lpstr>Lab 3B:  Define Relationship  between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Cascade Options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17</cp:revision>
  <dcterms:created xsi:type="dcterms:W3CDTF">2025-11-09T07:43:58Z</dcterms:created>
  <dcterms:modified xsi:type="dcterms:W3CDTF">2025-11-10T06:44:34Z</dcterms:modified>
</cp:coreProperties>
</file>